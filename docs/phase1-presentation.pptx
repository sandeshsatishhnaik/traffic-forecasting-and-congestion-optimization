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52ea95a-8cfe-3732-9981-9eeb4f6be6f2}">
          <p14:sldIdLst>
            <p14:sldId id="256"/>
          </p14:sldIdLst>
        </p14:section>
        <p14:section name="Background" id="{7e1657c7-0b10-f328-e366-8cb6b49e7e6c}">
          <p14:sldIdLst>
            <p14:sldId id="257"/>
            <p14:sldId id="258"/>
            <p14:sldId id="259"/>
          </p14:sldIdLst>
        </p14:section>
        <p14:section name="Problem and objectives" id="{0259ffd4-65be-e834-8659-1da0387713d8}">
          <p14:sldIdLst>
            <p14:sldId id="260"/>
            <p14:sldId id="261"/>
          </p14:sldIdLst>
        </p14:section>
        <p14:section name="Literature survey" id="{9dcfb832-08d9-11ec-96af-8c469ac72aa2}">
          <p14:sldIdLst>
            <p14:sldId id="262"/>
            <p14:sldId id="263"/>
            <p14:sldId id="264"/>
          </p14:sldIdLst>
        </p14:section>
        <p14:section name="Status" id="{b8496323-1111-d707-ea3b-31c660d5d774}">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B1F2A"/>
                </a:solidFill>
                <a:latin typeface="+mn-lt"/>
              </a:defRPr>
            </a:pPr>
            <a:r>
              <a:rPr sz="1600" b="0" i="0" u="none" strike="noStrike">
                <a:solidFill>
                  <a:srgbClr val="1B1F2A"/>
                </a:solidFill>
                <a:latin typeface="+mn-lt"/>
              </a:rPr>
              <a:t>METR-LA: MAE in mph (lower is better)</a:t>
            </a:r>
          </a:p>
        </c:rich>
      </c:tx>
      <c:layout/>
      <c:overlay val="0"/>
    </c:title>
    <c:autoTitleDeleted val="0"/>
    <c:plotArea>
      <c:layout/>
      <c:barChart>
        <c:barDir val="col"/>
        <c:grouping val="clustered"/>
        <c:varyColors val="0"/>
        <c:ser>
          <c:idx val="0"/>
          <c:order val="0"/>
          <c:tx>
            <c:strRef>
              <c:f>Sheet1!$B$1</c:f>
              <c:strCache>
                <c:ptCount val="1"/>
                <c:pt idx="0">
                  <c:v>15 min</c:v>
                </c:pt>
              </c:strCache>
            </c:strRef>
          </c:tx>
          <c:spPr>
            <a:solidFill>
              <a:srgbClr val="3B82F6"/>
            </a:solidFill>
            <a:effectLst/>
          </c:spPr>
          <c:invertIfNegative val="0"/>
          <c:dLbls>
            <c:numFmt formatCode="0.00"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cat>
            <c:multiLvlStrRef>
              <c:f>Sheet1!$A$2:$A$6</c:f>
              <c:multiLvlStrCache>
                <c:ptCount val="5"/>
                <c:lvl>
                  <c:pt idx="0">
                    <c:v>ARIMA</c:v>
                  </c:pt>
                  <c:pt idx="1">
                    <c:v>FC-LSTM</c:v>
                  </c:pt>
                  <c:pt idx="2">
                    <c:v>STGCN</c:v>
                  </c:pt>
                  <c:pt idx="3">
                    <c:v>DCRNN</c:v>
                  </c:pt>
                  <c:pt idx="4">
                    <c:v>Graph WaveNet</c:v>
                  </c:pt>
                </c:lvl>
              </c:multiLvlStrCache>
            </c:multiLvlStrRef>
          </c:cat>
          <c:val>
            <c:numRef>
              <c:f>Sheet1!$B$2:$B$6</c:f>
              <c:numCache>
                <c:formatCode>General</c:formatCode>
                <c:ptCount val="5"/>
                <c:pt idx="0">
                  <c:v>3.99</c:v>
                </c:pt>
                <c:pt idx="1">
                  <c:v>3.44</c:v>
                </c:pt>
                <c:pt idx="2">
                  <c:v>2.88</c:v>
                </c:pt>
                <c:pt idx="3">
                  <c:v>2.77</c:v>
                </c:pt>
                <c:pt idx="4">
                  <c:v>2.69</c:v>
                </c:pt>
              </c:numCache>
            </c:numRef>
          </c:val>
        </c:ser>
        <c:ser>
          <c:idx val="1"/>
          <c:order val="1"/>
          <c:tx>
            <c:strRef>
              <c:f>Sheet1!$C$1</c:f>
              <c:strCache>
                <c:ptCount val="1"/>
                <c:pt idx="0">
                  <c:v>60 min</c:v>
                </c:pt>
              </c:strCache>
            </c:strRef>
          </c:tx>
          <c:spPr>
            <a:solidFill>
              <a:srgbClr val="F5A623"/>
            </a:solidFill>
            <a:effectLst/>
          </c:spPr>
          <c:invertIfNegative val="0"/>
          <c:dLbls>
            <c:numFmt formatCode="0.00"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cat>
            <c:multiLvlStrRef>
              <c:f>Sheet1!$A$2:$A$6</c:f>
              <c:multiLvlStrCache>
                <c:ptCount val="5"/>
                <c:lvl>
                  <c:pt idx="0">
                    <c:v>ARIMA</c:v>
                  </c:pt>
                  <c:pt idx="1">
                    <c:v>FC-LSTM</c:v>
                  </c:pt>
                  <c:pt idx="2">
                    <c:v>STGCN</c:v>
                  </c:pt>
                  <c:pt idx="3">
                    <c:v>DCRNN</c:v>
                  </c:pt>
                  <c:pt idx="4">
                    <c:v>Graph WaveNet</c:v>
                  </c:pt>
                </c:lvl>
              </c:multiLvlStrCache>
            </c:multiLvlStrRef>
          </c:cat>
          <c:val>
            <c:numRef>
              <c:f>Sheet1!$C$2:$C$6</c:f>
              <c:numCache>
                <c:formatCode>General</c:formatCode>
                <c:ptCount val="5"/>
                <c:pt idx="0">
                  <c:v>6.9</c:v>
                </c:pt>
                <c:pt idx="1">
                  <c:v>4.37</c:v>
                </c:pt>
                <c:pt idx="2">
                  <c:v>4.59</c:v>
                </c:pt>
                <c:pt idx="3">
                  <c:v>3.6</c:v>
                </c:pt>
                <c:pt idx="4">
                  <c:v>3.53</c:v>
                </c:pt>
              </c:numCache>
            </c:numRef>
          </c:val>
        </c:ser>
        <c:dLbls>
          <c:numFmt formatCode="0.00" sourceLinked="0"/>
          <c:txPr>
            <a:bodyPr/>
            <a:lstStyle/>
            <a:p>
              <a:pPr>
                <a:defRPr b="0" i="0" strike="noStrike" sz="1200" u="none">
                  <a:solidFill>
                    <a:srgbClr val="1B1F2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3A4256"/>
                </a:solidFill>
                <a:latin typeface="+mn-lt"/>
              </a:defRPr>
            </a:pPr>
            <a:endParaRPr lang="en-US"/>
          </a:p>
        </c:txPr>
        <c:crossAx val="2094734552"/>
        <c:crosses val="autoZero"/>
        <c:auto val="1"/>
        <c:lblAlgn val="ctr"/>
        <c:noMultiLvlLbl val="1"/>
      </c:catAx>
      <c:valAx>
        <c:axId val="2094734552"/>
        <c:scaling>
          <c:orientation val="minMax"/>
          <c:max val="8"/>
          <c:min val="0"/>
        </c:scaling>
        <c:delete val="0"/>
        <c:axPos val="l"/>
        <c:majorGridlines>
          <c:spPr>
            <a:ln w="9525" cap="flat">
              <a:solidFill>
                <a:srgbClr val="D9DD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A425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300">
              <a:solidFill>
                <a:srgbClr val="3A4256"/>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title, team and guide. One sentence: we forecast traffic speed on every road of a region for the next hour and use the forecast to recommend less-congested routes. Fill in the team line on this slide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abstract in your own words, in about 40 seconds. The three numbers on the right: 21 stretches are being collected now; we forecast at three horizons; we use two public benchmarks and one local dataset. No results are claimed yet: Phase-1 is problem, literature and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reasons forecasting matters: traffic has patterns and shocks, roads are connected, and early knowledge changes decisions. The callout is real data from our own collector: at 10:40 IST on 30 September the eastbound Outer Ring Road near Agara moved at 5 km/h where free-flow is 39 km/h.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families of existing systems. Navigation apps are good but closed. Signal control in Bengaluru works at junctions (405 signalised, adaptive at 169 by April 2025, per news reports) and does not advise drivers. Classical statistical forecasting treats every road alone and degrades quickly with horizon. The gap is the combination: network-aware forecasts plus route choice, open and testable.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Formal statement: given the past T time steps of speed at N road stretches, predict the next T' steps at all N. Then the optimisation half: convert predicted speed to travel time per road (length divided by speed), run Dijkstra on those times, and recommend the fastest route; the same forecasts give congestion alerts when predicted speed falls well below the free-flow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objectives, each testable. 1 and 2 are data and graph; 3 and 4 are the forecasting study and how it is judged; 5 and 6 are the congestion optimisation, delivered as alerts and route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down the table: each paper fixes a weakness of the one before. STGCN made it convolutional and fast; DCRNN handled directed roads with diffusion but is recurrent; ASTGCN added attention and periodic inputs; Graph WaveNet learns the graph; GMAN uses attention for long horizons; AGCRN needs no predefined graph. Venues are on the slide; full references are on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are as reported in the Graph WaveNet paper, Table 2, on METR-LA. Three lessons: error grows with horizon; models that use the road network roughly halve the 60-minute error of ARIMA; and a graph learned from data performs about as well as the distance-based graph, which matters for us because our own corridor graph is small and built from map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Recent work shows simple models with good embeddings rival complex graph networks, so we compare against STID and do not claim a new architecture. PDFormer adds propagation delay, ST-ResNet shows external factors such as weather help, LargeST is the large benchmark. IntelliLight is the reinforcement-learning signal-control line; it needs a simulator and urban intersection data, which is why we chose route recommendation for the optimisation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 for Phase-1: scope and literature are done; the data pipeline is already collecting; the corridor graph and incident feed are built. Next phase: baselines, training on the Bengaluru data, alerts and routing,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list for the literature survey. Results quoted on the chart slide come from reference 3, Table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sp>
      <p:sp>
        <p:nvSpPr>
          <p:cNvPr id="3" name="Text 1"/>
          <p:cNvSpPr/>
          <p:nvPr>
            <p:ph idx="101" type="title" hasCustomPrompt="1"/>
          </p:nvPr>
        </p:nvSpPr>
        <p:spPr>
          <a:xfrm>
            <a:off x="640080" y="1188720"/>
            <a:ext cx="6766560" cy="2834640"/>
          </a:xfrm>
          <a:prstGeom prst="rect">
            <a:avLst/>
          </a:prstGeom>
          <a:noFill/>
          <a:ln/>
        </p:spPr>
        <p:txBody>
          <a:bodyPr wrap="square" rtlCol="0"/>
          <a:lstStyle>
            <a:lvl1pPr algn="l" indent="0" marL="0">
              <a:buNone/>
              <a:defRPr lang="en-US" sz="3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4" name="Text 1"/>
          <p:cNvSpPr/>
          <p:nvPr>
            <p:ph idx="102" type="body" hasCustomPrompt="1"/>
          </p:nvPr>
        </p:nvSpPr>
        <p:spPr>
          <a:xfrm>
            <a:off x="640080" y="4206240"/>
            <a:ext cx="6766560" cy="548640"/>
          </a:xfrm>
          <a:prstGeom prst="rect">
            <a:avLst/>
          </a:prstGeom>
          <a:noFill/>
          <a:ln/>
        </p:spPr>
        <p:txBody>
          <a:bodyPr wrap="square" rtlCol="0"/>
          <a:lstStyle>
            <a:lvl1pPr algn="l" indent="0" marL="0">
              <a:buNone/>
              <a:defRPr lang="en-US" sz="2200" dirty="0">
                <a:solidFill>
                  <a:schemeClr val="accent1"/>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6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100" dirty="0">
                <a:solidFill>
                  <a:schemeClr val="tx2"/>
                </a:solidFill>
              </a:rPr>
              <a:t>Traffic Forecasting and Congestion Optimization  |  Phase-1 PBL</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1"/>
          </a:solidFill>
          <a:ln/>
        </p:spPr>
      </p:sp>
      <p:sp>
        <p:nvSpPr>
          <p:cNvPr id="3" name="Text 1"/>
          <p:cNvSpPr/>
          <p:nvPr>
            <p:ph idx="101" type="title" hasCustomPrompt="1"/>
          </p:nvPr>
        </p:nvSpPr>
        <p:spPr>
          <a:xfrm>
            <a:off x="548640" y="365760"/>
            <a:ext cx="11064240" cy="82296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4" name="Text 1"/>
          <p:cNvSpPr/>
          <p:nvPr/>
        </p:nvSpPr>
        <p:spPr>
          <a:xfrm>
            <a:off x="548640" y="6400800"/>
            <a:ext cx="7315200" cy="274320"/>
          </a:xfrm>
          <a:prstGeom prst="rect">
            <a:avLst/>
          </a:prstGeom>
          <a:noFill/>
          <a:ln/>
        </p:spPr>
        <p:txBody>
          <a:bodyPr wrap="square" lIns="0" tIns="0" rIns="0" bIns="0" rtlCol="0" anchor="ctr"/>
          <a:lstStyle/>
          <a:p>
            <a:pPr indent="0" marL="0">
              <a:buNone/>
            </a:pPr>
            <a:r>
              <a:rPr lang="en-US" sz="1100" dirty="0">
                <a:solidFill>
                  <a:schemeClr val="bg2"/>
                </a:solidFill>
              </a:rPr>
              <a:t>Traffic Forecasting and Congestion Optimization  |  Phase-1 PBL</a:t>
            </a:r>
            <a:endParaRPr lang="en-US" sz="11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3.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640080" y="1188720"/>
            <a:ext cx="6766560" cy="2834640"/>
          </a:xfrm>
          <a:prstGeom prst="rect">
            <a:avLst/>
          </a:prstGeom>
          <a:noFill/>
          <a:ln/>
        </p:spPr>
        <p:txBody>
          <a:bodyPr wrap="square" lIns="0" tIns="0" rIns="0" bIns="0" rtlCol="0" anchor="t"/>
          <a:lstStyle/>
          <a:p>
            <a:pPr algn="l" indent="0" marL="0">
              <a:buNone/>
            </a:pPr>
            <a:r>
              <a:rPr lang="en-US" sz="3400" b="1" dirty="0">
                <a:solidFill>
                  <a:schemeClr val="bg1"/>
                </a:solidFill>
                <a:latin typeface="Cambria" pitchFamily="34" charset="0"/>
                <a:ea typeface="Cambria" pitchFamily="34" charset="-122"/>
                <a:cs typeface="Cambria" pitchFamily="34" charset="-120"/>
              </a:rPr>
              <a:t>AI-Driven Spatio-Temporal Traffic Intelligence System for Traffic Forecasting and Congestion Optimization</a:t>
            </a:r>
            <a:endParaRPr lang="en-US" sz="3400" dirty="0"/>
          </a:p>
        </p:txBody>
      </p:sp>
      <p:sp>
        <p:nvSpPr>
          <p:cNvPr id="3" name="Text 1"/>
          <p:cNvSpPr/>
          <p:nvPr>
            <p:ph idx="102" type="body" hasCustomPrompt="1"/>
          </p:nvPr>
        </p:nvSpPr>
        <p:spPr>
          <a:xfrm>
            <a:off x="640080" y="4206240"/>
            <a:ext cx="6766560" cy="548640"/>
          </a:xfrm>
          <a:prstGeom prst="rect">
            <a:avLst/>
          </a:prstGeom>
          <a:noFill/>
          <a:ln/>
        </p:spPr>
        <p:txBody>
          <a:bodyPr wrap="square" lIns="0" tIns="0" rIns="0" bIns="0" rtlCol="0" anchor="t"/>
          <a:lstStyle/>
          <a:p>
            <a:pPr algn="l" indent="0" marL="0">
              <a:buNone/>
            </a:pPr>
            <a:r>
              <a:rPr lang="en-US" sz="2200" dirty="0">
                <a:solidFill>
                  <a:schemeClr val="accent1"/>
                </a:solidFill>
              </a:rPr>
              <a:t>Phase-1 PBL Presentation</a:t>
            </a:r>
            <a:endParaRPr lang="en-US" sz="2200" dirty="0"/>
          </a:p>
        </p:txBody>
      </p:sp>
      <p:sp>
        <p:nvSpPr>
          <p:cNvPr id="4" name="Text 2"/>
          <p:cNvSpPr txBox="1"/>
          <p:nvPr/>
        </p:nvSpPr>
        <p:spPr>
          <a:xfrm>
            <a:off x="640080" y="5120640"/>
            <a:ext cx="6949440" cy="45720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Team: [names]   |   Guide: [name]   |   [College, Dept.]</a:t>
            </a:r>
            <a:endParaRPr lang="en-US" sz="1400" dirty="0"/>
          </a:p>
        </p:txBody>
      </p:sp>
      <p:sp>
        <p:nvSpPr>
          <p:cNvPr id="5" name="edge 0"/>
          <p:cNvSpPr/>
          <p:nvPr/>
        </p:nvSpPr>
        <p:spPr>
          <a:xfrm flipV="1">
            <a:off x="8595360" y="1280160"/>
            <a:ext cx="1645920" cy="274320"/>
          </a:xfrm>
          <a:prstGeom prst="line">
            <a:avLst/>
          </a:prstGeom>
          <a:noFill/>
          <a:ln w="28575">
            <a:solidFill>
              <a:schemeClr val="tx2"/>
            </a:solidFill>
            <a:prstDash val="solid"/>
          </a:ln>
        </p:spPr>
      </p:sp>
      <p:sp>
        <p:nvSpPr>
          <p:cNvPr id="6" name="edge 1"/>
          <p:cNvSpPr/>
          <p:nvPr/>
        </p:nvSpPr>
        <p:spPr>
          <a:xfrm>
            <a:off x="10241280" y="1280160"/>
            <a:ext cx="1280160" cy="1005840"/>
          </a:xfrm>
          <a:prstGeom prst="line">
            <a:avLst/>
          </a:prstGeom>
          <a:noFill/>
          <a:ln w="28575">
            <a:solidFill>
              <a:schemeClr val="tx2"/>
            </a:solidFill>
            <a:prstDash val="solid"/>
          </a:ln>
        </p:spPr>
      </p:sp>
      <p:sp>
        <p:nvSpPr>
          <p:cNvPr id="7" name="edge 2"/>
          <p:cNvSpPr/>
          <p:nvPr/>
        </p:nvSpPr>
        <p:spPr>
          <a:xfrm>
            <a:off x="8595360" y="1554480"/>
            <a:ext cx="822960" cy="1280160"/>
          </a:xfrm>
          <a:prstGeom prst="line">
            <a:avLst/>
          </a:prstGeom>
          <a:noFill/>
          <a:ln w="28575">
            <a:solidFill>
              <a:schemeClr val="tx2"/>
            </a:solidFill>
            <a:prstDash val="solid"/>
          </a:ln>
        </p:spPr>
      </p:sp>
      <p:sp>
        <p:nvSpPr>
          <p:cNvPr id="8" name="edge 3"/>
          <p:cNvSpPr/>
          <p:nvPr/>
        </p:nvSpPr>
        <p:spPr>
          <a:xfrm flipV="1">
            <a:off x="9418320" y="1280160"/>
            <a:ext cx="822960" cy="1554480"/>
          </a:xfrm>
          <a:prstGeom prst="line">
            <a:avLst/>
          </a:prstGeom>
          <a:noFill/>
          <a:ln w="28575">
            <a:solidFill>
              <a:schemeClr val="tx2"/>
            </a:solidFill>
            <a:prstDash val="solid"/>
          </a:ln>
        </p:spPr>
      </p:sp>
      <p:sp>
        <p:nvSpPr>
          <p:cNvPr id="9" name="edge 4"/>
          <p:cNvSpPr/>
          <p:nvPr/>
        </p:nvSpPr>
        <p:spPr>
          <a:xfrm flipV="1">
            <a:off x="10881360" y="2286000"/>
            <a:ext cx="640080" cy="1280160"/>
          </a:xfrm>
          <a:prstGeom prst="line">
            <a:avLst/>
          </a:prstGeom>
          <a:noFill/>
          <a:ln w="28575">
            <a:solidFill>
              <a:schemeClr val="tx2"/>
            </a:solidFill>
            <a:prstDash val="solid"/>
          </a:ln>
        </p:spPr>
      </p:sp>
      <p:sp>
        <p:nvSpPr>
          <p:cNvPr id="10" name="edge 5"/>
          <p:cNvSpPr/>
          <p:nvPr/>
        </p:nvSpPr>
        <p:spPr>
          <a:xfrm>
            <a:off x="9418320" y="2834640"/>
            <a:ext cx="1463040" cy="731520"/>
          </a:xfrm>
          <a:prstGeom prst="line">
            <a:avLst/>
          </a:prstGeom>
          <a:noFill/>
          <a:ln w="28575">
            <a:solidFill>
              <a:schemeClr val="tx2"/>
            </a:solidFill>
            <a:prstDash val="solid"/>
          </a:ln>
        </p:spPr>
      </p:sp>
      <p:sp>
        <p:nvSpPr>
          <p:cNvPr id="11" name="edge 6"/>
          <p:cNvSpPr/>
          <p:nvPr/>
        </p:nvSpPr>
        <p:spPr>
          <a:xfrm flipV="1">
            <a:off x="8412480" y="2834640"/>
            <a:ext cx="1005840" cy="1371600"/>
          </a:xfrm>
          <a:prstGeom prst="line">
            <a:avLst/>
          </a:prstGeom>
          <a:noFill/>
          <a:ln w="28575">
            <a:solidFill>
              <a:schemeClr val="tx2"/>
            </a:solidFill>
            <a:prstDash val="solid"/>
          </a:ln>
        </p:spPr>
      </p:sp>
      <p:sp>
        <p:nvSpPr>
          <p:cNvPr id="12" name="edge 7"/>
          <p:cNvSpPr/>
          <p:nvPr/>
        </p:nvSpPr>
        <p:spPr>
          <a:xfrm flipV="1">
            <a:off x="9875520" y="3566160"/>
            <a:ext cx="1005840" cy="1188720"/>
          </a:xfrm>
          <a:prstGeom prst="line">
            <a:avLst/>
          </a:prstGeom>
          <a:noFill/>
          <a:ln w="28575">
            <a:solidFill>
              <a:schemeClr val="tx2"/>
            </a:solidFill>
            <a:prstDash val="solid"/>
          </a:ln>
        </p:spPr>
      </p:sp>
      <p:sp>
        <p:nvSpPr>
          <p:cNvPr id="13" name="edge 8"/>
          <p:cNvSpPr/>
          <p:nvPr/>
        </p:nvSpPr>
        <p:spPr>
          <a:xfrm>
            <a:off x="8412480" y="4206240"/>
            <a:ext cx="1463040" cy="548640"/>
          </a:xfrm>
          <a:prstGeom prst="line">
            <a:avLst/>
          </a:prstGeom>
          <a:noFill/>
          <a:ln w="28575">
            <a:solidFill>
              <a:schemeClr val="tx2"/>
            </a:solidFill>
            <a:prstDash val="solid"/>
          </a:ln>
        </p:spPr>
      </p:sp>
      <p:sp>
        <p:nvSpPr>
          <p:cNvPr id="14" name="edge 9"/>
          <p:cNvSpPr/>
          <p:nvPr/>
        </p:nvSpPr>
        <p:spPr>
          <a:xfrm>
            <a:off x="9875520" y="4754880"/>
            <a:ext cx="1463040" cy="548640"/>
          </a:xfrm>
          <a:prstGeom prst="line">
            <a:avLst/>
          </a:prstGeom>
          <a:noFill/>
          <a:ln w="28575">
            <a:solidFill>
              <a:schemeClr val="tx2"/>
            </a:solidFill>
            <a:prstDash val="solid"/>
          </a:ln>
        </p:spPr>
      </p:sp>
      <p:sp>
        <p:nvSpPr>
          <p:cNvPr id="15" name="edge 10"/>
          <p:cNvSpPr/>
          <p:nvPr/>
        </p:nvSpPr>
        <p:spPr>
          <a:xfrm>
            <a:off x="8412480" y="4206240"/>
            <a:ext cx="548640" cy="1737360"/>
          </a:xfrm>
          <a:prstGeom prst="line">
            <a:avLst/>
          </a:prstGeom>
          <a:noFill/>
          <a:ln w="28575">
            <a:solidFill>
              <a:schemeClr val="tx2"/>
            </a:solidFill>
            <a:prstDash val="solid"/>
          </a:ln>
        </p:spPr>
      </p:sp>
      <p:sp>
        <p:nvSpPr>
          <p:cNvPr id="16" name="edge 11"/>
          <p:cNvSpPr/>
          <p:nvPr/>
        </p:nvSpPr>
        <p:spPr>
          <a:xfrm flipV="1">
            <a:off x="8961120" y="4754880"/>
            <a:ext cx="914400" cy="1188720"/>
          </a:xfrm>
          <a:prstGeom prst="line">
            <a:avLst/>
          </a:prstGeom>
          <a:noFill/>
          <a:ln w="28575">
            <a:solidFill>
              <a:schemeClr val="tx2"/>
            </a:solidFill>
            <a:prstDash val="solid"/>
          </a:ln>
        </p:spPr>
      </p:sp>
      <p:sp>
        <p:nvSpPr>
          <p:cNvPr id="17" name="edge 12"/>
          <p:cNvSpPr/>
          <p:nvPr/>
        </p:nvSpPr>
        <p:spPr>
          <a:xfrm>
            <a:off x="10881360" y="3566160"/>
            <a:ext cx="457200" cy="1737360"/>
          </a:xfrm>
          <a:prstGeom prst="line">
            <a:avLst/>
          </a:prstGeom>
          <a:noFill/>
          <a:ln w="28575">
            <a:solidFill>
              <a:schemeClr val="tx2"/>
            </a:solidFill>
            <a:prstDash val="solid"/>
          </a:ln>
        </p:spPr>
      </p:sp>
      <p:sp>
        <p:nvSpPr>
          <p:cNvPr id="18" name="node 0"/>
          <p:cNvSpPr/>
          <p:nvPr/>
        </p:nvSpPr>
        <p:spPr>
          <a:xfrm>
            <a:off x="8412480" y="1371600"/>
            <a:ext cx="365760" cy="365760"/>
          </a:xfrm>
          <a:prstGeom prst="ellipse">
            <a:avLst/>
          </a:prstGeom>
          <a:solidFill>
            <a:schemeClr val="accent1"/>
          </a:solidFill>
          <a:ln w="25400">
            <a:solidFill>
              <a:schemeClr val="tx1"/>
            </a:solidFill>
            <a:prstDash val="solid"/>
          </a:ln>
        </p:spPr>
      </p:sp>
      <p:sp>
        <p:nvSpPr>
          <p:cNvPr id="19" name="node 1"/>
          <p:cNvSpPr/>
          <p:nvPr/>
        </p:nvSpPr>
        <p:spPr>
          <a:xfrm>
            <a:off x="10058400" y="1097280"/>
            <a:ext cx="365760" cy="365760"/>
          </a:xfrm>
          <a:prstGeom prst="ellipse">
            <a:avLst/>
          </a:prstGeom>
          <a:solidFill>
            <a:schemeClr val="accent2"/>
          </a:solidFill>
          <a:ln w="25400">
            <a:solidFill>
              <a:schemeClr val="tx1"/>
            </a:solidFill>
            <a:prstDash val="solid"/>
          </a:ln>
        </p:spPr>
      </p:sp>
      <p:sp>
        <p:nvSpPr>
          <p:cNvPr id="20" name="node 2"/>
          <p:cNvSpPr/>
          <p:nvPr/>
        </p:nvSpPr>
        <p:spPr>
          <a:xfrm>
            <a:off x="11338560" y="2103120"/>
            <a:ext cx="365760" cy="365760"/>
          </a:xfrm>
          <a:prstGeom prst="ellipse">
            <a:avLst/>
          </a:prstGeom>
          <a:solidFill>
            <a:schemeClr val="accent2"/>
          </a:solidFill>
          <a:ln w="25400">
            <a:solidFill>
              <a:schemeClr val="tx1"/>
            </a:solidFill>
            <a:prstDash val="solid"/>
          </a:ln>
        </p:spPr>
      </p:sp>
      <p:sp>
        <p:nvSpPr>
          <p:cNvPr id="21" name="node 3"/>
          <p:cNvSpPr/>
          <p:nvPr/>
        </p:nvSpPr>
        <p:spPr>
          <a:xfrm>
            <a:off x="9235440" y="2651760"/>
            <a:ext cx="365760" cy="365760"/>
          </a:xfrm>
          <a:prstGeom prst="ellipse">
            <a:avLst/>
          </a:prstGeom>
          <a:solidFill>
            <a:schemeClr val="accent3"/>
          </a:solidFill>
          <a:ln w="25400">
            <a:solidFill>
              <a:schemeClr val="tx1"/>
            </a:solidFill>
            <a:prstDash val="solid"/>
          </a:ln>
        </p:spPr>
      </p:sp>
      <p:sp>
        <p:nvSpPr>
          <p:cNvPr id="22" name="node 4"/>
          <p:cNvSpPr/>
          <p:nvPr/>
        </p:nvSpPr>
        <p:spPr>
          <a:xfrm>
            <a:off x="10698480" y="3383280"/>
            <a:ext cx="365760" cy="365760"/>
          </a:xfrm>
          <a:prstGeom prst="ellipse">
            <a:avLst/>
          </a:prstGeom>
          <a:solidFill>
            <a:schemeClr val="accent1"/>
          </a:solidFill>
          <a:ln w="25400">
            <a:solidFill>
              <a:schemeClr val="tx1"/>
            </a:solidFill>
            <a:prstDash val="solid"/>
          </a:ln>
        </p:spPr>
      </p:sp>
      <p:sp>
        <p:nvSpPr>
          <p:cNvPr id="23" name="node 5"/>
          <p:cNvSpPr/>
          <p:nvPr/>
        </p:nvSpPr>
        <p:spPr>
          <a:xfrm>
            <a:off x="8229600" y="4023360"/>
            <a:ext cx="365760" cy="365760"/>
          </a:xfrm>
          <a:prstGeom prst="ellipse">
            <a:avLst/>
          </a:prstGeom>
          <a:solidFill>
            <a:schemeClr val="accent2"/>
          </a:solidFill>
          <a:ln w="25400">
            <a:solidFill>
              <a:schemeClr val="tx1"/>
            </a:solidFill>
            <a:prstDash val="solid"/>
          </a:ln>
        </p:spPr>
      </p:sp>
      <p:sp>
        <p:nvSpPr>
          <p:cNvPr id="24" name="node 6"/>
          <p:cNvSpPr/>
          <p:nvPr/>
        </p:nvSpPr>
        <p:spPr>
          <a:xfrm>
            <a:off x="9692640" y="4572000"/>
            <a:ext cx="365760" cy="365760"/>
          </a:xfrm>
          <a:prstGeom prst="ellipse">
            <a:avLst/>
          </a:prstGeom>
          <a:solidFill>
            <a:schemeClr val="accent3"/>
          </a:solidFill>
          <a:ln w="25400">
            <a:solidFill>
              <a:schemeClr val="tx1"/>
            </a:solidFill>
            <a:prstDash val="solid"/>
          </a:ln>
        </p:spPr>
      </p:sp>
      <p:sp>
        <p:nvSpPr>
          <p:cNvPr id="25" name="node 7"/>
          <p:cNvSpPr/>
          <p:nvPr/>
        </p:nvSpPr>
        <p:spPr>
          <a:xfrm>
            <a:off x="11155680" y="5120640"/>
            <a:ext cx="365760" cy="365760"/>
          </a:xfrm>
          <a:prstGeom prst="ellipse">
            <a:avLst/>
          </a:prstGeom>
          <a:solidFill>
            <a:schemeClr val="accent2"/>
          </a:solidFill>
          <a:ln w="25400">
            <a:solidFill>
              <a:schemeClr val="tx1"/>
            </a:solidFill>
            <a:prstDash val="solid"/>
          </a:ln>
        </p:spPr>
      </p:sp>
      <p:sp>
        <p:nvSpPr>
          <p:cNvPr id="26" name="node 8"/>
          <p:cNvSpPr/>
          <p:nvPr/>
        </p:nvSpPr>
        <p:spPr>
          <a:xfrm>
            <a:off x="8778240" y="5760720"/>
            <a:ext cx="365760" cy="365760"/>
          </a:xfrm>
          <a:prstGeom prst="ellipse">
            <a:avLst/>
          </a:prstGeom>
          <a:solidFill>
            <a:schemeClr val="accent1"/>
          </a:solidFill>
          <a:ln w="25400">
            <a:solidFill>
              <a:schemeClr val="tx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Abstract</a:t>
            </a:r>
            <a:endParaRPr lang="en-US" sz="3600" dirty="0"/>
          </a:p>
        </p:txBody>
      </p:sp>
      <p:sp>
        <p:nvSpPr>
          <p:cNvPr id="3" name="Text 1"/>
          <p:cNvSpPr txBox="1"/>
          <p:nvPr/>
        </p:nvSpPr>
        <p:spPr>
          <a:xfrm>
            <a:off x="548640" y="1463040"/>
            <a:ext cx="7223760" cy="4572000"/>
          </a:xfrm>
          <a:prstGeom prst="rect">
            <a:avLst/>
          </a:prstGeom>
          <a:noFill/>
          <a:ln/>
        </p:spPr>
        <p:txBody>
          <a:bodyPr wrap="square" lIns="0" tIns="0" rIns="0" bIns="0" rtlCol="0" anchor="t"/>
          <a:lstStyle/>
          <a:p>
            <a:pPr indent="0" marL="0">
              <a:spcAft>
                <a:spcPts val="1000"/>
              </a:spcAft>
              <a:buNone/>
            </a:pPr>
            <a:r>
              <a:rPr lang="en-US" sz="1600" dirty="0">
                <a:solidFill>
                  <a:schemeClr val="tx1"/>
                </a:solidFill>
                <a:latin typeface="Calibri" pitchFamily="34" charset="0"/>
                <a:ea typeface="Calibri" pitchFamily="34" charset="-122"/>
                <a:cs typeface="Calibri" pitchFamily="34" charset="-120"/>
              </a:rPr>
              <a:t>Traffic congestion in large Indian cities such as Bengaluru is usually noticed only after it has formed. This project builds a system that forecasts the traffic speed on each road of a region for the next 15, 30 and 60 minutes from historical data, then uses the forecasts to recommend less-congested routes and to raise early congestion alerts.</a:t>
            </a:r>
            <a:endParaRPr lang="en-US" sz="1600" dirty="0"/>
          </a:p>
          <a:p>
            <a:pPr indent="0" marL="0">
              <a:spcAft>
                <a:spcPts val="1000"/>
              </a:spcAft>
              <a:buNone/>
            </a:pPr>
            <a:r>
              <a:rPr lang="en-US" sz="1600" dirty="0">
                <a:solidFill>
                  <a:schemeClr val="tx1"/>
                </a:solidFill>
                <a:latin typeface="Calibri" pitchFamily="34" charset="0"/>
                <a:ea typeface="Calibri" pitchFamily="34" charset="-122"/>
                <a:cs typeface="Calibri" pitchFamily="34" charset="-120"/>
              </a:rPr>
              <a:t>Roads are modelled as a graph, so that a jam on one road can inform the prediction for the roads it feeds. We compare simple baselines (historical average, gradient boosting, LSTM) with spatio-temporal graph neural networks (Graph WaveNet, STID) on the public METR-LA and PEMS-BAY benchmarks and on our own Bengaluru Outer Ring Road dataset, collected around the clock since 27 September 2026.</a:t>
            </a:r>
            <a:endParaRPr lang="en-US" sz="1600" dirty="0"/>
          </a:p>
          <a:p>
            <a:pPr indent="0" marL="0">
              <a:spcAft>
                <a:spcPts val="600"/>
              </a:spcAft>
              <a:buNone/>
            </a:pPr>
            <a:r>
              <a:rPr lang="en-US" sz="1600" dirty="0">
                <a:solidFill>
                  <a:schemeClr val="tx1"/>
                </a:solidFill>
                <a:latin typeface="Calibri" pitchFamily="34" charset="0"/>
                <a:ea typeface="Calibri" pitchFamily="34" charset="-122"/>
                <a:cs typeface="Calibri" pitchFamily="34" charset="-120"/>
              </a:rPr>
              <a:t>Models are evaluated with MAE, RMSE and MAPE on a chronological train, validation and test split.</a:t>
            </a:r>
            <a:endParaRPr lang="en-US" sz="1600" dirty="0"/>
          </a:p>
        </p:txBody>
      </p:sp>
      <p:sp>
        <p:nvSpPr>
          <p:cNvPr id="4" name="stat card 1"/>
          <p:cNvSpPr/>
          <p:nvPr/>
        </p:nvSpPr>
        <p:spPr>
          <a:xfrm>
            <a:off x="8229600" y="1463040"/>
            <a:ext cx="3410712" cy="1417320"/>
          </a:xfrm>
          <a:prstGeom prst="roundRect">
            <a:avLst>
              <a:gd name="adj" fmla="val 7742"/>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5" name="Text 3"/>
          <p:cNvSpPr txBox="1"/>
          <p:nvPr/>
        </p:nvSpPr>
        <p:spPr>
          <a:xfrm>
            <a:off x="8458200" y="1572768"/>
            <a:ext cx="3017520" cy="640080"/>
          </a:xfrm>
          <a:prstGeom prst="rect">
            <a:avLst/>
          </a:prstGeom>
          <a:noFill/>
          <a:ln/>
        </p:spPr>
        <p:txBody>
          <a:bodyPr wrap="square" lIns="0" tIns="0" rIns="0" bIns="0" rtlCol="0" anchor="t"/>
          <a:lstStyle/>
          <a:p>
            <a:pPr indent="0" marL="0">
              <a:buNone/>
            </a:pPr>
            <a:r>
              <a:rPr lang="en-US" sz="3600" b="1" dirty="0">
                <a:solidFill>
                  <a:schemeClr val="tx1"/>
                </a:solidFill>
                <a:latin typeface="Cambria" pitchFamily="34" charset="0"/>
                <a:ea typeface="Cambria" pitchFamily="34" charset="-122"/>
                <a:cs typeface="Cambria" pitchFamily="34" charset="-120"/>
              </a:rPr>
              <a:t>21</a:t>
            </a:r>
            <a:endParaRPr lang="en-US" sz="3600" dirty="0"/>
          </a:p>
        </p:txBody>
      </p:sp>
      <p:sp>
        <p:nvSpPr>
          <p:cNvPr id="6" name="Text 4"/>
          <p:cNvSpPr txBox="1"/>
          <p:nvPr/>
        </p:nvSpPr>
        <p:spPr>
          <a:xfrm>
            <a:off x="8458200" y="2240280"/>
            <a:ext cx="3017520" cy="566928"/>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road stretches collected around the clock</a:t>
            </a:r>
            <a:endParaRPr lang="en-US" sz="1400" dirty="0"/>
          </a:p>
        </p:txBody>
      </p:sp>
      <p:sp>
        <p:nvSpPr>
          <p:cNvPr id="7" name="stat card 2"/>
          <p:cNvSpPr/>
          <p:nvPr/>
        </p:nvSpPr>
        <p:spPr>
          <a:xfrm>
            <a:off x="8229600" y="3063240"/>
            <a:ext cx="3410712" cy="1417320"/>
          </a:xfrm>
          <a:prstGeom prst="roundRect">
            <a:avLst>
              <a:gd name="adj" fmla="val 7742"/>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8" name="Text 6"/>
          <p:cNvSpPr txBox="1"/>
          <p:nvPr/>
        </p:nvSpPr>
        <p:spPr>
          <a:xfrm>
            <a:off x="8458200" y="3172968"/>
            <a:ext cx="3017520" cy="640080"/>
          </a:xfrm>
          <a:prstGeom prst="rect">
            <a:avLst/>
          </a:prstGeom>
          <a:noFill/>
          <a:ln/>
        </p:spPr>
        <p:txBody>
          <a:bodyPr wrap="square" lIns="0" tIns="0" rIns="0" bIns="0" rtlCol="0" anchor="t"/>
          <a:lstStyle/>
          <a:p>
            <a:pPr indent="0" marL="0">
              <a:buNone/>
            </a:pPr>
            <a:r>
              <a:rPr lang="en-US" sz="3600" b="1" dirty="0">
                <a:solidFill>
                  <a:schemeClr val="tx1"/>
                </a:solidFill>
                <a:latin typeface="Cambria" pitchFamily="34" charset="0"/>
                <a:ea typeface="Cambria" pitchFamily="34" charset="-122"/>
                <a:cs typeface="Cambria" pitchFamily="34" charset="-120"/>
              </a:rPr>
              <a:t>15 | 30 | 60</a:t>
            </a:r>
            <a:endParaRPr lang="en-US" sz="3600" dirty="0"/>
          </a:p>
        </p:txBody>
      </p:sp>
      <p:sp>
        <p:nvSpPr>
          <p:cNvPr id="9" name="Text 7"/>
          <p:cNvSpPr txBox="1"/>
          <p:nvPr/>
        </p:nvSpPr>
        <p:spPr>
          <a:xfrm>
            <a:off x="8458200" y="3840480"/>
            <a:ext cx="3017520" cy="566928"/>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minute forecast horizons</a:t>
            </a:r>
            <a:endParaRPr lang="en-US" sz="1400" dirty="0"/>
          </a:p>
        </p:txBody>
      </p:sp>
      <p:sp>
        <p:nvSpPr>
          <p:cNvPr id="10" name="stat card 3"/>
          <p:cNvSpPr/>
          <p:nvPr/>
        </p:nvSpPr>
        <p:spPr>
          <a:xfrm>
            <a:off x="8229600" y="4663440"/>
            <a:ext cx="3410712" cy="1417320"/>
          </a:xfrm>
          <a:prstGeom prst="roundRect">
            <a:avLst>
              <a:gd name="adj" fmla="val 7742"/>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1" name="Text 9"/>
          <p:cNvSpPr txBox="1"/>
          <p:nvPr/>
        </p:nvSpPr>
        <p:spPr>
          <a:xfrm>
            <a:off x="8458200" y="4773168"/>
            <a:ext cx="3017520" cy="640080"/>
          </a:xfrm>
          <a:prstGeom prst="rect">
            <a:avLst/>
          </a:prstGeom>
          <a:noFill/>
          <a:ln/>
        </p:spPr>
        <p:txBody>
          <a:bodyPr wrap="square" lIns="0" tIns="0" rIns="0" bIns="0" rtlCol="0" anchor="t"/>
          <a:lstStyle/>
          <a:p>
            <a:pPr indent="0" marL="0">
              <a:buNone/>
            </a:pPr>
            <a:r>
              <a:rPr lang="en-US" sz="3600" b="1" dirty="0">
                <a:solidFill>
                  <a:schemeClr val="tx1"/>
                </a:solidFill>
                <a:latin typeface="Cambria" pitchFamily="34" charset="0"/>
                <a:ea typeface="Cambria" pitchFamily="34" charset="-122"/>
                <a:cs typeface="Cambria" pitchFamily="34" charset="-120"/>
              </a:rPr>
              <a:t>3</a:t>
            </a:r>
            <a:endParaRPr lang="en-US" sz="3600" dirty="0"/>
          </a:p>
        </p:txBody>
      </p:sp>
      <p:sp>
        <p:nvSpPr>
          <p:cNvPr id="12" name="Text 10"/>
          <p:cNvSpPr txBox="1"/>
          <p:nvPr/>
        </p:nvSpPr>
        <p:spPr>
          <a:xfrm>
            <a:off x="8458200" y="5440680"/>
            <a:ext cx="3017520" cy="566928"/>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datasets: METR-LA, PEMS-BAY and our Bengaluru corridor</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Introduction</a:t>
            </a:r>
            <a:endParaRPr lang="en-US" sz="3600" dirty="0"/>
          </a:p>
        </p:txBody>
      </p:sp>
      <p:sp>
        <p:nvSpPr>
          <p:cNvPr id="3" name="intro 1 circle"/>
          <p:cNvSpPr/>
          <p:nvPr/>
        </p:nvSpPr>
        <p:spPr>
          <a:xfrm>
            <a:off x="548640" y="1463040"/>
            <a:ext cx="777240" cy="777240"/>
          </a:xfrm>
          <a:prstGeom prst="ellipse">
            <a:avLst/>
          </a:prstGeom>
          <a:solidFill>
            <a:schemeClr val="accent1"/>
          </a:solidFill>
          <a:ln w="12700">
            <a:solidFill>
              <a:schemeClr val="accent1"/>
            </a:solidFill>
            <a:prstDash val="solid"/>
          </a:ln>
        </p:spPr>
      </p:sp>
      <p:pic>
        <p:nvPicPr>
          <p:cNvPr id="4" name="intro 1 icon" descr="intro 1">    </p:cNvPr>
          <p:cNvPicPr>
            <a:picLocks noChangeAspect="1"/>
          </p:cNvPicPr>
          <p:nvPr/>
        </p:nvPicPr>
        <p:blipFill>
          <a:blip r:embed="rId1"/>
          <a:stretch>
            <a:fillRect/>
          </a:stretch>
        </p:blipFill>
        <p:spPr>
          <a:xfrm>
            <a:off x="750722" y="1665122"/>
            <a:ext cx="373075" cy="373075"/>
          </a:xfrm>
          <a:prstGeom prst="rect">
            <a:avLst/>
          </a:prstGeom>
        </p:spPr>
      </p:pic>
      <p:sp>
        <p:nvSpPr>
          <p:cNvPr id="5" name="Text 2"/>
          <p:cNvSpPr txBox="1"/>
          <p:nvPr/>
        </p:nvSpPr>
        <p:spPr>
          <a:xfrm>
            <a:off x="1600200" y="1463040"/>
            <a:ext cx="5394960" cy="365760"/>
          </a:xfrm>
          <a:prstGeom prst="rect">
            <a:avLst/>
          </a:prstGeom>
          <a:noFill/>
          <a:ln/>
        </p:spPr>
        <p:txBody>
          <a:bodyPr wrap="square" lIns="0" tIns="0" rIns="0" bIns="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Traffic has rhythms and shocks</a:t>
            </a:r>
            <a:endParaRPr lang="en-US" sz="2000" dirty="0"/>
          </a:p>
        </p:txBody>
      </p:sp>
      <p:sp>
        <p:nvSpPr>
          <p:cNvPr id="6" name="Text 3"/>
          <p:cNvSpPr txBox="1"/>
          <p:nvPr/>
        </p:nvSpPr>
        <p:spPr>
          <a:xfrm>
            <a:off x="1600200" y="1847088"/>
            <a:ext cx="5394960" cy="73152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Daily and weekly peaks, plus rain, accidents and events that no timetable predicts.</a:t>
            </a:r>
            <a:endParaRPr lang="en-US" sz="1500" dirty="0"/>
          </a:p>
        </p:txBody>
      </p:sp>
      <p:sp>
        <p:nvSpPr>
          <p:cNvPr id="7" name="intro 2 circle"/>
          <p:cNvSpPr/>
          <p:nvPr/>
        </p:nvSpPr>
        <p:spPr>
          <a:xfrm>
            <a:off x="548640" y="2743200"/>
            <a:ext cx="777240" cy="777240"/>
          </a:xfrm>
          <a:prstGeom prst="ellipse">
            <a:avLst/>
          </a:prstGeom>
          <a:solidFill>
            <a:schemeClr val="accent1"/>
          </a:solidFill>
          <a:ln w="12700">
            <a:solidFill>
              <a:schemeClr val="accent1"/>
            </a:solidFill>
            <a:prstDash val="solid"/>
          </a:ln>
        </p:spPr>
      </p:sp>
      <p:pic>
        <p:nvPicPr>
          <p:cNvPr id="8" name="intro 2 icon" descr="intro 2">    </p:cNvPr>
          <p:cNvPicPr>
            <a:picLocks noChangeAspect="1"/>
          </p:cNvPicPr>
          <p:nvPr/>
        </p:nvPicPr>
        <p:blipFill>
          <a:blip r:embed="rId2"/>
          <a:stretch>
            <a:fillRect/>
          </a:stretch>
        </p:blipFill>
        <p:spPr>
          <a:xfrm>
            <a:off x="750722" y="2945282"/>
            <a:ext cx="373075" cy="373075"/>
          </a:xfrm>
          <a:prstGeom prst="rect">
            <a:avLst/>
          </a:prstGeom>
        </p:spPr>
      </p:pic>
      <p:sp>
        <p:nvSpPr>
          <p:cNvPr id="9" name="Text 5"/>
          <p:cNvSpPr txBox="1"/>
          <p:nvPr/>
        </p:nvSpPr>
        <p:spPr>
          <a:xfrm>
            <a:off x="1600200" y="2743200"/>
            <a:ext cx="5394960" cy="365760"/>
          </a:xfrm>
          <a:prstGeom prst="rect">
            <a:avLst/>
          </a:prstGeom>
          <a:noFill/>
          <a:ln/>
        </p:spPr>
        <p:txBody>
          <a:bodyPr wrap="square" lIns="0" tIns="0" rIns="0" bIns="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Roads form a network</a:t>
            </a:r>
            <a:endParaRPr lang="en-US" sz="2000" dirty="0"/>
          </a:p>
        </p:txBody>
      </p:sp>
      <p:sp>
        <p:nvSpPr>
          <p:cNvPr id="10" name="Text 6"/>
          <p:cNvSpPr txBox="1"/>
          <p:nvPr/>
        </p:nvSpPr>
        <p:spPr>
          <a:xfrm>
            <a:off x="1600200" y="3127248"/>
            <a:ext cx="5394960" cy="73152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A jam on one road slows the roads that feed it, so no road can be forecast alone.</a:t>
            </a:r>
            <a:endParaRPr lang="en-US" sz="1500" dirty="0"/>
          </a:p>
        </p:txBody>
      </p:sp>
      <p:sp>
        <p:nvSpPr>
          <p:cNvPr id="11" name="intro 3 circle"/>
          <p:cNvSpPr/>
          <p:nvPr/>
        </p:nvSpPr>
        <p:spPr>
          <a:xfrm>
            <a:off x="548640" y="4023360"/>
            <a:ext cx="777240" cy="777240"/>
          </a:xfrm>
          <a:prstGeom prst="ellipse">
            <a:avLst/>
          </a:prstGeom>
          <a:solidFill>
            <a:schemeClr val="accent1"/>
          </a:solidFill>
          <a:ln w="12700">
            <a:solidFill>
              <a:schemeClr val="accent1"/>
            </a:solidFill>
            <a:prstDash val="solid"/>
          </a:ln>
        </p:spPr>
      </p:sp>
      <p:pic>
        <p:nvPicPr>
          <p:cNvPr id="12" name="intro 3 icon" descr="intro 3">    </p:cNvPr>
          <p:cNvPicPr>
            <a:picLocks noChangeAspect="1"/>
          </p:cNvPicPr>
          <p:nvPr/>
        </p:nvPicPr>
        <p:blipFill>
          <a:blip r:embed="rId3"/>
          <a:stretch>
            <a:fillRect/>
          </a:stretch>
        </p:blipFill>
        <p:spPr>
          <a:xfrm>
            <a:off x="750722" y="4225442"/>
            <a:ext cx="373075" cy="373075"/>
          </a:xfrm>
          <a:prstGeom prst="rect">
            <a:avLst/>
          </a:prstGeom>
        </p:spPr>
      </p:pic>
      <p:sp>
        <p:nvSpPr>
          <p:cNvPr id="13" name="Text 8"/>
          <p:cNvSpPr txBox="1"/>
          <p:nvPr/>
        </p:nvSpPr>
        <p:spPr>
          <a:xfrm>
            <a:off x="1600200" y="4023360"/>
            <a:ext cx="5394960" cy="365760"/>
          </a:xfrm>
          <a:prstGeom prst="rect">
            <a:avLst/>
          </a:prstGeom>
          <a:noFill/>
          <a:ln/>
        </p:spPr>
        <p:txBody>
          <a:bodyPr wrap="square" lIns="0" tIns="0" rIns="0" bIns="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Knowing ahead changes decisions</a:t>
            </a:r>
            <a:endParaRPr lang="en-US" sz="2000" dirty="0"/>
          </a:p>
        </p:txBody>
      </p:sp>
      <p:sp>
        <p:nvSpPr>
          <p:cNvPr id="14" name="Text 9"/>
          <p:cNvSpPr txBox="1"/>
          <p:nvPr/>
        </p:nvSpPr>
        <p:spPr>
          <a:xfrm>
            <a:off x="1600200" y="4407408"/>
            <a:ext cx="5394960" cy="73152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A forecast 30 to 60 minutes ahead lets commuters re-route and authorities act early.</a:t>
            </a:r>
            <a:endParaRPr lang="en-US" sz="1500" dirty="0"/>
          </a:p>
        </p:txBody>
      </p:sp>
      <p:sp>
        <p:nvSpPr>
          <p:cNvPr id="15" name="data callout"/>
          <p:cNvSpPr/>
          <p:nvPr/>
        </p:nvSpPr>
        <p:spPr>
          <a:xfrm>
            <a:off x="7498080" y="1463040"/>
            <a:ext cx="4142232" cy="3611880"/>
          </a:xfrm>
          <a:prstGeom prst="roundRect">
            <a:avLst>
              <a:gd name="adj" fmla="val 3038"/>
            </a:avLst>
          </a:prstGeom>
          <a:solidFill>
            <a:schemeClr val="tx1"/>
          </a:solidFill>
          <a:ln w="12700">
            <a:solidFill>
              <a:schemeClr val="tx1"/>
            </a:solidFill>
            <a:prstDash val="solid"/>
          </a:ln>
          <a:effectLst>
            <a:outerShdw sx="100000" sy="100000" kx="0" ky="0" algn="bl" rotWithShape="0" blurRad="101600" dist="25400" dir="5400000">
              <a:srgbClr val="000000">
                <a:alpha val="12000"/>
              </a:srgbClr>
            </a:outerShdw>
          </a:effectLst>
        </p:spPr>
      </p:sp>
      <p:sp>
        <p:nvSpPr>
          <p:cNvPr id="16" name="Text 11"/>
          <p:cNvSpPr txBox="1"/>
          <p:nvPr/>
        </p:nvSpPr>
        <p:spPr>
          <a:xfrm>
            <a:off x="7772400" y="1691640"/>
            <a:ext cx="3657600" cy="914400"/>
          </a:xfrm>
          <a:prstGeom prst="rect">
            <a:avLst/>
          </a:prstGeom>
          <a:noFill/>
          <a:ln/>
        </p:spPr>
        <p:txBody>
          <a:bodyPr wrap="square" lIns="0" tIns="0" rIns="0" bIns="0" rtlCol="0" anchor="t"/>
          <a:lstStyle/>
          <a:p>
            <a:pPr indent="0" marL="0">
              <a:buNone/>
            </a:pPr>
            <a:r>
              <a:rPr lang="en-US" sz="6000" b="1" dirty="0">
                <a:solidFill>
                  <a:schemeClr val="accent1"/>
                </a:solidFill>
                <a:latin typeface="Cambria" pitchFamily="34" charset="0"/>
                <a:ea typeface="Cambria" pitchFamily="34" charset="-122"/>
                <a:cs typeface="Cambria" pitchFamily="34" charset="-120"/>
              </a:rPr>
              <a:t>5 km/h</a:t>
            </a:r>
            <a:endParaRPr lang="en-US" sz="6000" dirty="0"/>
          </a:p>
        </p:txBody>
      </p:sp>
      <p:sp>
        <p:nvSpPr>
          <p:cNvPr id="17" name="Text 12"/>
          <p:cNvSpPr txBox="1"/>
          <p:nvPr/>
        </p:nvSpPr>
        <p:spPr>
          <a:xfrm>
            <a:off x="7772400" y="2697480"/>
            <a:ext cx="3657600" cy="457200"/>
          </a:xfrm>
          <a:prstGeom prst="rect">
            <a:avLst/>
          </a:prstGeom>
          <a:noFill/>
          <a:ln/>
        </p:spPr>
        <p:txBody>
          <a:bodyPr wrap="square" lIns="0" tIns="0" rIns="0" bIns="0" rtlCol="0" anchor="t"/>
          <a:lstStyle/>
          <a:p>
            <a:pPr indent="0" marL="0">
              <a:buNone/>
            </a:pPr>
            <a:r>
              <a:rPr lang="en-US" sz="2200" dirty="0">
                <a:solidFill>
                  <a:schemeClr val="bg1"/>
                </a:solidFill>
                <a:latin typeface="Calibri" pitchFamily="34" charset="0"/>
                <a:ea typeface="Calibri" pitchFamily="34" charset="-122"/>
                <a:cs typeface="Calibri" pitchFamily="34" charset="-120"/>
              </a:rPr>
              <a:t>against 39 km/h free-flow</a:t>
            </a:r>
            <a:endParaRPr lang="en-US" sz="2200" dirty="0"/>
          </a:p>
        </p:txBody>
      </p:sp>
      <p:sp>
        <p:nvSpPr>
          <p:cNvPr id="18" name="Text 13"/>
          <p:cNvSpPr txBox="1"/>
          <p:nvPr/>
        </p:nvSpPr>
        <p:spPr>
          <a:xfrm>
            <a:off x="7772400" y="3383280"/>
            <a:ext cx="3657600" cy="1097280"/>
          </a:xfrm>
          <a:prstGeom prst="rect">
            <a:avLst/>
          </a:prstGeom>
          <a:noFill/>
          <a:ln/>
        </p:spPr>
        <p:txBody>
          <a:bodyPr wrap="square" lIns="0" tIns="0" rIns="0" bIns="0" rtlCol="0" anchor="t"/>
          <a:lstStyle/>
          <a:p>
            <a:pPr indent="0" marL="0">
              <a:buNone/>
            </a:pPr>
            <a:r>
              <a:rPr lang="en-US" sz="1400" dirty="0">
                <a:solidFill>
                  <a:schemeClr val="bg2"/>
                </a:solidFill>
                <a:latin typeface="Calibri" pitchFamily="34" charset="0"/>
                <a:ea typeface="Calibri" pitchFamily="34" charset="-122"/>
                <a:cs typeface="Calibri" pitchFamily="34" charset="-120"/>
              </a:rPr>
              <a:t>Outer Ring Road near Agara (eastbound), 10:40 IST, 30 September 2026. Source: our own TomTom readings.</a:t>
            </a:r>
            <a:endParaRPr lang="en-US" sz="1400" dirty="0"/>
          </a:p>
        </p:txBody>
      </p:sp>
      <p:sp>
        <p:nvSpPr>
          <p:cNvPr id="19" name="project band"/>
          <p:cNvSpPr/>
          <p:nvPr/>
        </p:nvSpPr>
        <p:spPr>
          <a:xfrm>
            <a:off x="548640" y="5394960"/>
            <a:ext cx="11091672" cy="777240"/>
          </a:xfrm>
          <a:prstGeom prst="roundRect">
            <a:avLst>
              <a:gd name="adj" fmla="val 14118"/>
            </a:avLst>
          </a:prstGeom>
          <a:solidFill>
            <a:schemeClr val="bg2"/>
          </a:solidFill>
          <a:ln w="12700">
            <a:solidFill>
              <a:schemeClr val="bg2"/>
            </a:solidFill>
            <a:prstDash val="solid"/>
          </a:ln>
        </p:spPr>
      </p:sp>
      <p:sp>
        <p:nvSpPr>
          <p:cNvPr id="20" name="Text 15"/>
          <p:cNvSpPr txBox="1"/>
          <p:nvPr/>
        </p:nvSpPr>
        <p:spPr>
          <a:xfrm>
            <a:off x="777240" y="5394960"/>
            <a:ext cx="10607040" cy="77724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Our project: </a:t>
            </a:r>
            <a:pPr indent="0" marL="0">
              <a:buNone/>
            </a:pPr>
            <a:r>
              <a:rPr lang="en-US" sz="1600" dirty="0">
                <a:solidFill>
                  <a:schemeClr val="tx1"/>
                </a:solidFill>
                <a:latin typeface="Calibri" pitchFamily="34" charset="0"/>
                <a:ea typeface="Calibri" pitchFamily="34" charset="-122"/>
                <a:cs typeface="Calibri" pitchFamily="34" charset="-120"/>
              </a:rPr>
              <a:t>forecast speed on every road of a region for the next hour, then use the forecast to recommend routes and warn about congestion.</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Existing System</a:t>
            </a:r>
            <a:endParaRPr lang="en-US" sz="3600" dirty="0"/>
          </a:p>
        </p:txBody>
      </p:sp>
      <p:sp>
        <p:nvSpPr>
          <p:cNvPr id="3" name="existing card 1"/>
          <p:cNvSpPr/>
          <p:nvPr/>
        </p:nvSpPr>
        <p:spPr>
          <a:xfrm>
            <a:off x="548640" y="1417320"/>
            <a:ext cx="3520440" cy="3840480"/>
          </a:xfrm>
          <a:prstGeom prst="roundRect">
            <a:avLst>
              <a:gd name="adj" fmla="val 3117"/>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existing 1 circle"/>
          <p:cNvSpPr/>
          <p:nvPr/>
        </p:nvSpPr>
        <p:spPr>
          <a:xfrm>
            <a:off x="777240" y="1600200"/>
            <a:ext cx="685800" cy="685800"/>
          </a:xfrm>
          <a:prstGeom prst="ellipse">
            <a:avLst/>
          </a:prstGeom>
          <a:solidFill>
            <a:schemeClr val="accent1"/>
          </a:solidFill>
          <a:ln w="12700">
            <a:solidFill>
              <a:schemeClr val="accent1"/>
            </a:solidFill>
            <a:prstDash val="solid"/>
          </a:ln>
        </p:spPr>
      </p:sp>
      <p:pic>
        <p:nvPicPr>
          <p:cNvPr id="5" name="existing 1 icon" descr="existing 1">    </p:cNvPr>
          <p:cNvPicPr>
            <a:picLocks noChangeAspect="1"/>
          </p:cNvPicPr>
          <p:nvPr/>
        </p:nvPicPr>
        <p:blipFill>
          <a:blip r:embed="rId1"/>
          <a:stretch>
            <a:fillRect/>
          </a:stretch>
        </p:blipFill>
        <p:spPr>
          <a:xfrm>
            <a:off x="955548" y="1778508"/>
            <a:ext cx="329184" cy="329184"/>
          </a:xfrm>
          <a:prstGeom prst="rect">
            <a:avLst/>
          </a:prstGeom>
        </p:spPr>
      </p:pic>
      <p:sp>
        <p:nvSpPr>
          <p:cNvPr id="6" name="Text 3"/>
          <p:cNvSpPr txBox="1"/>
          <p:nvPr/>
        </p:nvSpPr>
        <p:spPr>
          <a:xfrm>
            <a:off x="1600200" y="1600200"/>
            <a:ext cx="2331720" cy="68580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Navigation apps</a:t>
            </a:r>
            <a:endParaRPr lang="en-US" sz="2000" dirty="0"/>
          </a:p>
        </p:txBody>
      </p:sp>
      <p:sp>
        <p:nvSpPr>
          <p:cNvPr id="7" name="Text 4"/>
          <p:cNvSpPr txBox="1"/>
          <p:nvPr/>
        </p:nvSpPr>
        <p:spPr>
          <a:xfrm>
            <a:off x="777240" y="2468880"/>
            <a:ext cx="3063240" cy="11887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Google Maps, Waze and TomTom show live speeds from phone and vehicle GPS traces and estimate arrival times.</a:t>
            </a:r>
            <a:endParaRPr lang="en-US" sz="1400" dirty="0"/>
          </a:p>
        </p:txBody>
      </p:sp>
      <p:sp>
        <p:nvSpPr>
          <p:cNvPr id="8" name="Text 5"/>
          <p:cNvSpPr txBox="1"/>
          <p:nvPr/>
        </p:nvSpPr>
        <p:spPr>
          <a:xfrm>
            <a:off x="777240" y="3749040"/>
            <a:ext cx="3063240" cy="1417320"/>
          </a:xfrm>
          <a:prstGeom prst="rect">
            <a:avLst/>
          </a:prstGeom>
          <a:noFill/>
          <a:ln/>
        </p:spPr>
        <p:txBody>
          <a:bodyPr wrap="square" lIns="0" tIns="0" rIns="0" bIns="0" rtlCol="0" anchor="t"/>
          <a:lstStyle/>
          <a:p>
            <a:pPr indent="0" marL="0">
              <a:buNone/>
            </a:pPr>
            <a:r>
              <a:rPr lang="en-US" sz="1400" b="1" dirty="0">
                <a:solidFill>
                  <a:schemeClr val="accent3"/>
                </a:solidFill>
                <a:latin typeface="Calibri" pitchFamily="34" charset="0"/>
                <a:ea typeface="Calibri" pitchFamily="34" charset="-122"/>
                <a:cs typeface="Calibri" pitchFamily="34" charset="-120"/>
              </a:rPr>
              <a:t>Limitation</a:t>
            </a:r>
            <a:endParaRPr lang="en-US" sz="1400" dirty="0"/>
          </a:p>
          <a:p>
            <a:pPr indent="0" marL="0">
              <a:buNone/>
            </a:pPr>
            <a:r>
              <a:rPr lang="en-US" sz="1400" dirty="0">
                <a:solidFill>
                  <a:schemeClr val="tx1"/>
                </a:solidFill>
                <a:latin typeface="Calibri" pitchFamily="34" charset="0"/>
                <a:ea typeface="Calibri" pitchFamily="34" charset="-122"/>
                <a:cs typeface="Calibri" pitchFamily="34" charset="-120"/>
              </a:rPr>
              <a:t>The models are proprietary: they cannot be inspected, tested or tuned for a study region.</a:t>
            </a:r>
            <a:endParaRPr lang="en-US" sz="1400" dirty="0"/>
          </a:p>
        </p:txBody>
      </p:sp>
      <p:sp>
        <p:nvSpPr>
          <p:cNvPr id="9" name="existing card 2"/>
          <p:cNvSpPr/>
          <p:nvPr/>
        </p:nvSpPr>
        <p:spPr>
          <a:xfrm>
            <a:off x="4334256" y="1417320"/>
            <a:ext cx="3520440" cy="3840480"/>
          </a:xfrm>
          <a:prstGeom prst="roundRect">
            <a:avLst>
              <a:gd name="adj" fmla="val 3117"/>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0" name="existing 2 circle"/>
          <p:cNvSpPr/>
          <p:nvPr/>
        </p:nvSpPr>
        <p:spPr>
          <a:xfrm>
            <a:off x="4562856" y="1600200"/>
            <a:ext cx="685800" cy="685800"/>
          </a:xfrm>
          <a:prstGeom prst="ellipse">
            <a:avLst/>
          </a:prstGeom>
          <a:solidFill>
            <a:schemeClr val="accent1"/>
          </a:solidFill>
          <a:ln w="12700">
            <a:solidFill>
              <a:schemeClr val="accent1"/>
            </a:solidFill>
            <a:prstDash val="solid"/>
          </a:ln>
        </p:spPr>
      </p:sp>
      <p:pic>
        <p:nvPicPr>
          <p:cNvPr id="11" name="existing 2 icon" descr="existing 2">    </p:cNvPr>
          <p:cNvPicPr>
            <a:picLocks noChangeAspect="1"/>
          </p:cNvPicPr>
          <p:nvPr/>
        </p:nvPicPr>
        <p:blipFill>
          <a:blip r:embed="rId2"/>
          <a:stretch>
            <a:fillRect/>
          </a:stretch>
        </p:blipFill>
        <p:spPr>
          <a:xfrm>
            <a:off x="4741164" y="1778508"/>
            <a:ext cx="329184" cy="329184"/>
          </a:xfrm>
          <a:prstGeom prst="rect">
            <a:avLst/>
          </a:prstGeom>
        </p:spPr>
      </p:pic>
      <p:sp>
        <p:nvSpPr>
          <p:cNvPr id="12" name="Text 8"/>
          <p:cNvSpPr txBox="1"/>
          <p:nvPr/>
        </p:nvSpPr>
        <p:spPr>
          <a:xfrm>
            <a:off x="5385816" y="1600200"/>
            <a:ext cx="2331720" cy="68580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Signal control</a:t>
            </a:r>
            <a:endParaRPr lang="en-US" sz="2000" dirty="0"/>
          </a:p>
        </p:txBody>
      </p:sp>
      <p:sp>
        <p:nvSpPr>
          <p:cNvPr id="13" name="Text 9"/>
          <p:cNvSpPr txBox="1"/>
          <p:nvPr/>
        </p:nvSpPr>
        <p:spPr>
          <a:xfrm>
            <a:off x="4562856" y="2468880"/>
            <a:ext cx="3063240" cy="11887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Bengaluru has 405 signalised junctions; adaptive control (BATCS) ran at 169 of them by April 2025 (news reports).</a:t>
            </a:r>
            <a:endParaRPr lang="en-US" sz="1400" dirty="0"/>
          </a:p>
        </p:txBody>
      </p:sp>
      <p:sp>
        <p:nvSpPr>
          <p:cNvPr id="14" name="Text 10"/>
          <p:cNvSpPr txBox="1"/>
          <p:nvPr/>
        </p:nvSpPr>
        <p:spPr>
          <a:xfrm>
            <a:off x="4562856" y="3749040"/>
            <a:ext cx="3063240" cy="1417320"/>
          </a:xfrm>
          <a:prstGeom prst="rect">
            <a:avLst/>
          </a:prstGeom>
          <a:noFill/>
          <a:ln/>
        </p:spPr>
        <p:txBody>
          <a:bodyPr wrap="square" lIns="0" tIns="0" rIns="0" bIns="0" rtlCol="0" anchor="t"/>
          <a:lstStyle/>
          <a:p>
            <a:pPr indent="0" marL="0">
              <a:buNone/>
            </a:pPr>
            <a:r>
              <a:rPr lang="en-US" sz="1400" b="1" dirty="0">
                <a:solidFill>
                  <a:schemeClr val="accent3"/>
                </a:solidFill>
                <a:latin typeface="Calibri" pitchFamily="34" charset="0"/>
                <a:ea typeface="Calibri" pitchFamily="34" charset="-122"/>
                <a:cs typeface="Calibri" pitchFamily="34" charset="-120"/>
              </a:rPr>
              <a:t>Limitation</a:t>
            </a:r>
            <a:endParaRPr lang="en-US" sz="1400" dirty="0"/>
          </a:p>
          <a:p>
            <a:pPr indent="0" marL="0">
              <a:buNone/>
            </a:pPr>
            <a:r>
              <a:rPr lang="en-US" sz="1400" dirty="0">
                <a:solidFill>
                  <a:schemeClr val="tx1"/>
                </a:solidFill>
                <a:latin typeface="Calibri" pitchFamily="34" charset="0"/>
                <a:ea typeface="Calibri" pitchFamily="34" charset="-122"/>
                <a:cs typeface="Calibri" pitchFamily="34" charset="-120"/>
              </a:rPr>
              <a:t>It manages junctions, not drivers' route choice, and signal plans are not public.</a:t>
            </a:r>
            <a:endParaRPr lang="en-US" sz="1400" dirty="0"/>
          </a:p>
        </p:txBody>
      </p:sp>
      <p:sp>
        <p:nvSpPr>
          <p:cNvPr id="15" name="existing card 3"/>
          <p:cNvSpPr/>
          <p:nvPr/>
        </p:nvSpPr>
        <p:spPr>
          <a:xfrm>
            <a:off x="8119872" y="1417320"/>
            <a:ext cx="3520440" cy="3840480"/>
          </a:xfrm>
          <a:prstGeom prst="roundRect">
            <a:avLst>
              <a:gd name="adj" fmla="val 3117"/>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6" name="existing 3 circle"/>
          <p:cNvSpPr/>
          <p:nvPr/>
        </p:nvSpPr>
        <p:spPr>
          <a:xfrm>
            <a:off x="8348472" y="1600200"/>
            <a:ext cx="685800" cy="685800"/>
          </a:xfrm>
          <a:prstGeom prst="ellipse">
            <a:avLst/>
          </a:prstGeom>
          <a:solidFill>
            <a:schemeClr val="accent1"/>
          </a:solidFill>
          <a:ln w="12700">
            <a:solidFill>
              <a:schemeClr val="accent1"/>
            </a:solidFill>
            <a:prstDash val="solid"/>
          </a:ln>
        </p:spPr>
      </p:sp>
      <p:pic>
        <p:nvPicPr>
          <p:cNvPr id="17" name="existing 3 icon" descr="existing 3">    </p:cNvPr>
          <p:cNvPicPr>
            <a:picLocks noChangeAspect="1"/>
          </p:cNvPicPr>
          <p:nvPr/>
        </p:nvPicPr>
        <p:blipFill>
          <a:blip r:embed="rId3"/>
          <a:stretch>
            <a:fillRect/>
          </a:stretch>
        </p:blipFill>
        <p:spPr>
          <a:xfrm>
            <a:off x="8526780" y="1778508"/>
            <a:ext cx="329184" cy="329184"/>
          </a:xfrm>
          <a:prstGeom prst="rect">
            <a:avLst/>
          </a:prstGeom>
        </p:spPr>
      </p:pic>
      <p:sp>
        <p:nvSpPr>
          <p:cNvPr id="18" name="Text 13"/>
          <p:cNvSpPr txBox="1"/>
          <p:nvPr/>
        </p:nvSpPr>
        <p:spPr>
          <a:xfrm>
            <a:off x="9171432" y="1600200"/>
            <a:ext cx="2331720" cy="68580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Classical forecasting</a:t>
            </a:r>
            <a:endParaRPr lang="en-US" sz="2000" dirty="0"/>
          </a:p>
        </p:txBody>
      </p:sp>
      <p:sp>
        <p:nvSpPr>
          <p:cNvPr id="19" name="Text 14"/>
          <p:cNvSpPr txBox="1"/>
          <p:nvPr/>
        </p:nvSpPr>
        <p:spPr>
          <a:xfrm>
            <a:off x="8348472" y="2468880"/>
            <a:ext cx="3063240" cy="11887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Historical average, ARIMA and SVR forecast each road's speed from its own past.</a:t>
            </a:r>
            <a:endParaRPr lang="en-US" sz="1400" dirty="0"/>
          </a:p>
        </p:txBody>
      </p:sp>
      <p:sp>
        <p:nvSpPr>
          <p:cNvPr id="20" name="Text 15"/>
          <p:cNvSpPr txBox="1"/>
          <p:nvPr/>
        </p:nvSpPr>
        <p:spPr>
          <a:xfrm>
            <a:off x="8348472" y="3749040"/>
            <a:ext cx="3063240" cy="1417320"/>
          </a:xfrm>
          <a:prstGeom prst="rect">
            <a:avLst/>
          </a:prstGeom>
          <a:noFill/>
          <a:ln/>
        </p:spPr>
        <p:txBody>
          <a:bodyPr wrap="square" lIns="0" tIns="0" rIns="0" bIns="0" rtlCol="0" anchor="t"/>
          <a:lstStyle/>
          <a:p>
            <a:pPr indent="0" marL="0">
              <a:buNone/>
            </a:pPr>
            <a:r>
              <a:rPr lang="en-US" sz="1400" b="1" dirty="0">
                <a:solidFill>
                  <a:schemeClr val="accent3"/>
                </a:solidFill>
                <a:latin typeface="Calibri" pitchFamily="34" charset="0"/>
                <a:ea typeface="Calibri" pitchFamily="34" charset="-122"/>
                <a:cs typeface="Calibri" pitchFamily="34" charset="-120"/>
              </a:rPr>
              <a:t>Limitation</a:t>
            </a:r>
            <a:endParaRPr lang="en-US" sz="1400" dirty="0"/>
          </a:p>
          <a:p>
            <a:pPr indent="0" marL="0">
              <a:buNone/>
            </a:pPr>
            <a:r>
              <a:rPr lang="en-US" sz="1400" dirty="0">
                <a:solidFill>
                  <a:schemeClr val="tx1"/>
                </a:solidFill>
                <a:latin typeface="Calibri" pitchFamily="34" charset="0"/>
                <a:ea typeface="Calibri" pitchFamily="34" charset="-122"/>
                <a:cs typeface="Calibri" pitchFamily="34" charset="-120"/>
              </a:rPr>
              <a:t>They ignore the road network, and error grows with horizon (ARIMA on METR-LA: 3.99 mph MAE at 15 min, 6.90 at 60).</a:t>
            </a:r>
            <a:endParaRPr lang="en-US" sz="1400" dirty="0"/>
          </a:p>
        </p:txBody>
      </p:sp>
      <p:sp>
        <p:nvSpPr>
          <p:cNvPr id="21" name="gap band"/>
          <p:cNvSpPr/>
          <p:nvPr/>
        </p:nvSpPr>
        <p:spPr>
          <a:xfrm>
            <a:off x="548640" y="5486400"/>
            <a:ext cx="11091672" cy="685800"/>
          </a:xfrm>
          <a:prstGeom prst="roundRect">
            <a:avLst>
              <a:gd name="adj" fmla="val 16000"/>
            </a:avLst>
          </a:prstGeom>
          <a:solidFill>
            <a:schemeClr val="tx1"/>
          </a:solidFill>
          <a:ln w="12700">
            <a:solidFill>
              <a:schemeClr val="tx1"/>
            </a:solidFill>
            <a:prstDash val="solid"/>
          </a:ln>
        </p:spPr>
      </p:sp>
      <p:sp>
        <p:nvSpPr>
          <p:cNvPr id="22" name="Text 17"/>
          <p:cNvSpPr txBox="1"/>
          <p:nvPr/>
        </p:nvSpPr>
        <p:spPr>
          <a:xfrm>
            <a:off x="777240" y="5486400"/>
            <a:ext cx="10607040" cy="68580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Gap: </a:t>
            </a:r>
            <a:pPr indent="0" marL="0">
              <a:buNone/>
            </a:pPr>
            <a:r>
              <a:rPr lang="en-US" sz="1600" dirty="0">
                <a:solidFill>
                  <a:schemeClr val="bg1"/>
                </a:solidFill>
                <a:latin typeface="Calibri" pitchFamily="34" charset="0"/>
                <a:ea typeface="Calibri" pitchFamily="34" charset="-122"/>
                <a:cs typeface="Calibri" pitchFamily="34" charset="-120"/>
              </a:rPr>
              <a:t>none of these combines network-aware forecasts with route choice, openly, for a chosen region.</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bg1"/>
                </a:solidFill>
                <a:latin typeface="Cambria" pitchFamily="34" charset="0"/>
                <a:ea typeface="Cambria" pitchFamily="34" charset="-122"/>
                <a:cs typeface="Cambria" pitchFamily="34" charset="-120"/>
              </a:rPr>
              <a:t>Problem Statement</a:t>
            </a:r>
            <a:endParaRPr lang="en-US" sz="3600" dirty="0"/>
          </a:p>
        </p:txBody>
      </p:sp>
      <p:sp>
        <p:nvSpPr>
          <p:cNvPr id="3" name="Text 1"/>
          <p:cNvSpPr txBox="1"/>
          <p:nvPr/>
        </p:nvSpPr>
        <p:spPr>
          <a:xfrm>
            <a:off x="548640" y="1325880"/>
            <a:ext cx="11064240" cy="777240"/>
          </a:xfrm>
          <a:prstGeom prst="rect">
            <a:avLst/>
          </a:prstGeom>
          <a:noFill/>
          <a:ln/>
        </p:spPr>
        <p:txBody>
          <a:bodyPr wrap="square" lIns="0" tIns="0" rIns="0" bIns="0" rtlCol="0" anchor="t"/>
          <a:lstStyle/>
          <a:p>
            <a:pPr indent="0" marL="0">
              <a:buNone/>
            </a:pPr>
            <a:r>
              <a:rPr lang="en-US" sz="2000" i="1" dirty="0">
                <a:solidFill>
                  <a:schemeClr val="bg2"/>
                </a:solidFill>
                <a:latin typeface="Calibri" pitchFamily="34" charset="0"/>
                <a:ea typeface="Calibri" pitchFamily="34" charset="-122"/>
                <a:cs typeface="Calibri" pitchFamily="34" charset="-120"/>
              </a:rPr>
              <a:t>“AI-Driven Spatio-Temporal Traffic Intelligence System for Traffic Forecasting and Congestion Optimization”</a:t>
            </a:r>
            <a:endParaRPr lang="en-US" sz="2000" dirty="0"/>
          </a:p>
        </p:txBody>
      </p:sp>
      <p:sp>
        <p:nvSpPr>
          <p:cNvPr id="4" name="Text 2"/>
          <p:cNvSpPr txBox="1"/>
          <p:nvPr/>
        </p:nvSpPr>
        <p:spPr>
          <a:xfrm>
            <a:off x="548640" y="2331720"/>
            <a:ext cx="1325880" cy="1325880"/>
          </a:xfrm>
          <a:prstGeom prst="rect">
            <a:avLst/>
          </a:prstGeom>
          <a:noFill/>
          <a:ln/>
        </p:spPr>
        <p:txBody>
          <a:bodyPr wrap="square" lIns="0" tIns="0" rIns="0" bIns="0" rtlCol="0" anchor="ctr"/>
          <a:lstStyle/>
          <a:p>
            <a:pPr indent="0" marL="0">
              <a:buNone/>
            </a:pPr>
            <a:r>
              <a:rPr lang="en-US" sz="1700" b="1" dirty="0">
                <a:solidFill>
                  <a:schemeClr val="accent1"/>
                </a:solidFill>
                <a:latin typeface="Calibri" pitchFamily="34" charset="0"/>
                <a:ea typeface="Calibri" pitchFamily="34" charset="-122"/>
                <a:cs typeface="Calibri" pitchFamily="34" charset="-120"/>
              </a:rPr>
              <a:t>Forecast</a:t>
            </a:r>
            <a:endParaRPr lang="en-US" sz="1700" dirty="0"/>
          </a:p>
        </p:txBody>
      </p:sp>
      <p:sp>
        <p:nvSpPr>
          <p:cNvPr id="5" name="flow Forecast 1"/>
          <p:cNvSpPr/>
          <p:nvPr/>
        </p:nvSpPr>
        <p:spPr>
          <a:xfrm>
            <a:off x="1920240" y="2331720"/>
            <a:ext cx="2743200" cy="1325880"/>
          </a:xfrm>
          <a:prstGeom prst="roundRect">
            <a:avLst>
              <a:gd name="adj" fmla="val 8276"/>
            </a:avLst>
          </a:prstGeom>
          <a:solidFill>
            <a:schemeClr val="tx2"/>
          </a:solidFill>
          <a:ln w="12700">
            <a:solidFill>
              <a:schemeClr val="tx2"/>
            </a:solidFill>
            <a:prstDash val="solid"/>
          </a:ln>
        </p:spPr>
      </p:sp>
      <p:sp>
        <p:nvSpPr>
          <p:cNvPr id="6" name="Text 4"/>
          <p:cNvSpPr txBox="1"/>
          <p:nvPr/>
        </p:nvSpPr>
        <p:spPr>
          <a:xfrm>
            <a:off x="2103120" y="2331720"/>
            <a:ext cx="2377440" cy="1325880"/>
          </a:xfrm>
          <a:prstGeom prst="rect">
            <a:avLst/>
          </a:prstGeom>
          <a:noFill/>
          <a:ln/>
        </p:spPr>
        <p:txBody>
          <a:bodyPr wrap="square" lIns="0" tIns="0" rIns="0" bIns="0" rtlCol="0" anchor="ctr"/>
          <a:lstStyle/>
          <a:p>
            <a:pPr indent="0" marL="0">
              <a:buNone/>
            </a:pPr>
            <a:r>
              <a:rPr lang="en-US" sz="1600" dirty="0">
                <a:solidFill>
                  <a:schemeClr val="bg1"/>
                </a:solidFill>
                <a:latin typeface="Calibri" pitchFamily="34" charset="0"/>
                <a:ea typeface="Calibri" pitchFamily="34" charset="-122"/>
                <a:cs typeface="Calibri" pitchFamily="34" charset="-120"/>
              </a:rPr>
              <a:t>Past T steps of speed at N connected road stretches</a:t>
            </a:r>
            <a:endParaRPr lang="en-US" sz="1600" dirty="0"/>
          </a:p>
        </p:txBody>
      </p:sp>
      <p:sp>
        <p:nvSpPr>
          <p:cNvPr id="7" name="arrow Forecast 1"/>
          <p:cNvSpPr/>
          <p:nvPr/>
        </p:nvSpPr>
        <p:spPr>
          <a:xfrm>
            <a:off x="4736592" y="2807208"/>
            <a:ext cx="365760" cy="365760"/>
          </a:xfrm>
          <a:prstGeom prst="rightArrow">
            <a:avLst/>
          </a:prstGeom>
          <a:solidFill>
            <a:schemeClr val="accent1"/>
          </a:solidFill>
          <a:ln w="12700">
            <a:solidFill>
              <a:schemeClr val="accent1"/>
            </a:solidFill>
            <a:prstDash val="solid"/>
          </a:ln>
        </p:spPr>
      </p:sp>
      <p:sp>
        <p:nvSpPr>
          <p:cNvPr id="8" name="flow Forecast 2"/>
          <p:cNvSpPr/>
          <p:nvPr/>
        </p:nvSpPr>
        <p:spPr>
          <a:xfrm>
            <a:off x="5166360" y="2331720"/>
            <a:ext cx="2743200" cy="1325880"/>
          </a:xfrm>
          <a:prstGeom prst="roundRect">
            <a:avLst>
              <a:gd name="adj" fmla="val 8276"/>
            </a:avLst>
          </a:prstGeom>
          <a:solidFill>
            <a:schemeClr val="tx2"/>
          </a:solidFill>
          <a:ln w="12700">
            <a:solidFill>
              <a:schemeClr val="tx2"/>
            </a:solidFill>
            <a:prstDash val="solid"/>
          </a:ln>
        </p:spPr>
      </p:sp>
      <p:sp>
        <p:nvSpPr>
          <p:cNvPr id="9" name="Text 7"/>
          <p:cNvSpPr txBox="1"/>
          <p:nvPr/>
        </p:nvSpPr>
        <p:spPr>
          <a:xfrm>
            <a:off x="5349240" y="2331720"/>
            <a:ext cx="2377440" cy="1325880"/>
          </a:xfrm>
          <a:prstGeom prst="rect">
            <a:avLst/>
          </a:prstGeom>
          <a:noFill/>
          <a:ln/>
        </p:spPr>
        <p:txBody>
          <a:bodyPr wrap="square" lIns="0" tIns="0" rIns="0" bIns="0" rtlCol="0" anchor="ctr"/>
          <a:lstStyle/>
          <a:p>
            <a:pPr indent="0" marL="0">
              <a:buNone/>
            </a:pPr>
            <a:r>
              <a:rPr lang="en-US" sz="1600" dirty="0">
                <a:solidFill>
                  <a:schemeClr val="bg1"/>
                </a:solidFill>
                <a:latin typeface="Calibri" pitchFamily="34" charset="0"/>
                <a:ea typeface="Calibri" pitchFamily="34" charset="-122"/>
                <a:cs typeface="Calibri" pitchFamily="34" charset="-120"/>
              </a:rPr>
              <a:t>Spatio-temporal graph model</a:t>
            </a:r>
            <a:endParaRPr lang="en-US" sz="1600" dirty="0"/>
          </a:p>
        </p:txBody>
      </p:sp>
      <p:sp>
        <p:nvSpPr>
          <p:cNvPr id="10" name="arrow Forecast 2"/>
          <p:cNvSpPr/>
          <p:nvPr/>
        </p:nvSpPr>
        <p:spPr>
          <a:xfrm>
            <a:off x="7982712" y="2807208"/>
            <a:ext cx="365760" cy="365760"/>
          </a:xfrm>
          <a:prstGeom prst="rightArrow">
            <a:avLst/>
          </a:prstGeom>
          <a:solidFill>
            <a:schemeClr val="accent1"/>
          </a:solidFill>
          <a:ln w="12700">
            <a:solidFill>
              <a:schemeClr val="accent1"/>
            </a:solidFill>
            <a:prstDash val="solid"/>
          </a:ln>
        </p:spPr>
      </p:sp>
      <p:sp>
        <p:nvSpPr>
          <p:cNvPr id="11" name="flow Forecast 3"/>
          <p:cNvSpPr/>
          <p:nvPr/>
        </p:nvSpPr>
        <p:spPr>
          <a:xfrm>
            <a:off x="8412480" y="2331720"/>
            <a:ext cx="2743200" cy="1325880"/>
          </a:xfrm>
          <a:prstGeom prst="roundRect">
            <a:avLst>
              <a:gd name="adj" fmla="val 8276"/>
            </a:avLst>
          </a:prstGeom>
          <a:solidFill>
            <a:schemeClr val="tx2"/>
          </a:solidFill>
          <a:ln w="12700">
            <a:solidFill>
              <a:schemeClr val="tx2"/>
            </a:solidFill>
            <a:prstDash val="solid"/>
          </a:ln>
        </p:spPr>
      </p:sp>
      <p:sp>
        <p:nvSpPr>
          <p:cNvPr id="12" name="Text 10"/>
          <p:cNvSpPr txBox="1"/>
          <p:nvPr/>
        </p:nvSpPr>
        <p:spPr>
          <a:xfrm>
            <a:off x="8595360" y="2331720"/>
            <a:ext cx="2377440" cy="1325880"/>
          </a:xfrm>
          <a:prstGeom prst="rect">
            <a:avLst/>
          </a:prstGeom>
          <a:noFill/>
          <a:ln/>
        </p:spPr>
        <p:txBody>
          <a:bodyPr wrap="square" lIns="0" tIns="0" rIns="0" bIns="0" rtlCol="0" anchor="ctr"/>
          <a:lstStyle/>
          <a:p>
            <a:pPr indent="0" marL="0">
              <a:buNone/>
            </a:pPr>
            <a:r>
              <a:rPr lang="en-US" sz="1600" dirty="0">
                <a:solidFill>
                  <a:schemeClr val="bg1"/>
                </a:solidFill>
                <a:latin typeface="Calibri" pitchFamily="34" charset="0"/>
                <a:ea typeface="Calibri" pitchFamily="34" charset="-122"/>
                <a:cs typeface="Calibri" pitchFamily="34" charset="-120"/>
              </a:rPr>
              <a:t>Next T' steps at all N stretches</a:t>
            </a:r>
            <a:endParaRPr lang="en-US" sz="1600" dirty="0"/>
          </a:p>
        </p:txBody>
      </p:sp>
      <p:sp>
        <p:nvSpPr>
          <p:cNvPr id="13" name="Text 11"/>
          <p:cNvSpPr txBox="1"/>
          <p:nvPr/>
        </p:nvSpPr>
        <p:spPr>
          <a:xfrm>
            <a:off x="548640" y="4023360"/>
            <a:ext cx="1325880" cy="1325880"/>
          </a:xfrm>
          <a:prstGeom prst="rect">
            <a:avLst/>
          </a:prstGeom>
          <a:noFill/>
          <a:ln/>
        </p:spPr>
        <p:txBody>
          <a:bodyPr wrap="square" lIns="0" tIns="0" rIns="0" bIns="0" rtlCol="0" anchor="ctr"/>
          <a:lstStyle/>
          <a:p>
            <a:pPr indent="0" marL="0">
              <a:buNone/>
            </a:pPr>
            <a:r>
              <a:rPr lang="en-US" sz="1700" b="1" dirty="0">
                <a:solidFill>
                  <a:schemeClr val="accent1"/>
                </a:solidFill>
                <a:latin typeface="Calibri" pitchFamily="34" charset="0"/>
                <a:ea typeface="Calibri" pitchFamily="34" charset="-122"/>
                <a:cs typeface="Calibri" pitchFamily="34" charset="-120"/>
              </a:rPr>
              <a:t>Optimise</a:t>
            </a:r>
            <a:endParaRPr lang="en-US" sz="1700" dirty="0"/>
          </a:p>
        </p:txBody>
      </p:sp>
      <p:sp>
        <p:nvSpPr>
          <p:cNvPr id="14" name="flow Optimise 1"/>
          <p:cNvSpPr/>
          <p:nvPr/>
        </p:nvSpPr>
        <p:spPr>
          <a:xfrm>
            <a:off x="1920240" y="4023360"/>
            <a:ext cx="2743200" cy="1325880"/>
          </a:xfrm>
          <a:prstGeom prst="roundRect">
            <a:avLst>
              <a:gd name="adj" fmla="val 8276"/>
            </a:avLst>
          </a:prstGeom>
          <a:solidFill>
            <a:schemeClr val="tx2"/>
          </a:solidFill>
          <a:ln w="12700">
            <a:solidFill>
              <a:schemeClr val="tx2"/>
            </a:solidFill>
            <a:prstDash val="solid"/>
          </a:ln>
        </p:spPr>
      </p:sp>
      <p:sp>
        <p:nvSpPr>
          <p:cNvPr id="15" name="Text 13"/>
          <p:cNvSpPr txBox="1"/>
          <p:nvPr/>
        </p:nvSpPr>
        <p:spPr>
          <a:xfrm>
            <a:off x="2103120" y="4023360"/>
            <a:ext cx="2377440" cy="1325880"/>
          </a:xfrm>
          <a:prstGeom prst="rect">
            <a:avLst/>
          </a:prstGeom>
          <a:noFill/>
          <a:ln/>
        </p:spPr>
        <p:txBody>
          <a:bodyPr wrap="square" lIns="0" tIns="0" rIns="0" bIns="0" rtlCol="0" anchor="ctr"/>
          <a:lstStyle/>
          <a:p>
            <a:pPr indent="0" marL="0">
              <a:buNone/>
            </a:pPr>
            <a:r>
              <a:rPr lang="en-US" sz="1600" dirty="0">
                <a:solidFill>
                  <a:schemeClr val="bg1"/>
                </a:solidFill>
                <a:latin typeface="Calibri" pitchFamily="34" charset="0"/>
                <a:ea typeface="Calibri" pitchFamily="34" charset="-122"/>
                <a:cs typeface="Calibri" pitchFamily="34" charset="-120"/>
              </a:rPr>
              <a:t>Predicted speed gives travel time: length ÷ speed</a:t>
            </a:r>
            <a:endParaRPr lang="en-US" sz="1600" dirty="0"/>
          </a:p>
        </p:txBody>
      </p:sp>
      <p:sp>
        <p:nvSpPr>
          <p:cNvPr id="16" name="arrow Optimise 1"/>
          <p:cNvSpPr/>
          <p:nvPr/>
        </p:nvSpPr>
        <p:spPr>
          <a:xfrm>
            <a:off x="4736592" y="4498848"/>
            <a:ext cx="365760" cy="365760"/>
          </a:xfrm>
          <a:prstGeom prst="rightArrow">
            <a:avLst/>
          </a:prstGeom>
          <a:solidFill>
            <a:schemeClr val="accent1"/>
          </a:solidFill>
          <a:ln w="12700">
            <a:solidFill>
              <a:schemeClr val="accent1"/>
            </a:solidFill>
            <a:prstDash val="solid"/>
          </a:ln>
        </p:spPr>
      </p:sp>
      <p:sp>
        <p:nvSpPr>
          <p:cNvPr id="17" name="flow Optimise 2"/>
          <p:cNvSpPr/>
          <p:nvPr/>
        </p:nvSpPr>
        <p:spPr>
          <a:xfrm>
            <a:off x="5166360" y="4023360"/>
            <a:ext cx="2743200" cy="1325880"/>
          </a:xfrm>
          <a:prstGeom prst="roundRect">
            <a:avLst>
              <a:gd name="adj" fmla="val 8276"/>
            </a:avLst>
          </a:prstGeom>
          <a:solidFill>
            <a:schemeClr val="tx2"/>
          </a:solidFill>
          <a:ln w="12700">
            <a:solidFill>
              <a:schemeClr val="tx2"/>
            </a:solidFill>
            <a:prstDash val="solid"/>
          </a:ln>
        </p:spPr>
      </p:sp>
      <p:sp>
        <p:nvSpPr>
          <p:cNvPr id="18" name="Text 16"/>
          <p:cNvSpPr txBox="1"/>
          <p:nvPr/>
        </p:nvSpPr>
        <p:spPr>
          <a:xfrm>
            <a:off x="5349240" y="4023360"/>
            <a:ext cx="2377440" cy="1325880"/>
          </a:xfrm>
          <a:prstGeom prst="rect">
            <a:avLst/>
          </a:prstGeom>
          <a:noFill/>
          <a:ln/>
        </p:spPr>
        <p:txBody>
          <a:bodyPr wrap="square" lIns="0" tIns="0" rIns="0" bIns="0" rtlCol="0" anchor="ctr"/>
          <a:lstStyle/>
          <a:p>
            <a:pPr indent="0" marL="0">
              <a:buNone/>
            </a:pPr>
            <a:r>
              <a:rPr lang="en-US" sz="1600" dirty="0">
                <a:solidFill>
                  <a:schemeClr val="bg1"/>
                </a:solidFill>
                <a:latin typeface="Calibri" pitchFamily="34" charset="0"/>
                <a:ea typeface="Calibri" pitchFamily="34" charset="-122"/>
                <a:cs typeface="Calibri" pitchFamily="34" charset="-120"/>
              </a:rPr>
              <a:t>Dijkstra finds the fastest route</a:t>
            </a:r>
            <a:endParaRPr lang="en-US" sz="1600" dirty="0"/>
          </a:p>
        </p:txBody>
      </p:sp>
      <p:sp>
        <p:nvSpPr>
          <p:cNvPr id="19" name="arrow Optimise 2"/>
          <p:cNvSpPr/>
          <p:nvPr/>
        </p:nvSpPr>
        <p:spPr>
          <a:xfrm>
            <a:off x="7982712" y="4498848"/>
            <a:ext cx="365760" cy="365760"/>
          </a:xfrm>
          <a:prstGeom prst="rightArrow">
            <a:avLst/>
          </a:prstGeom>
          <a:solidFill>
            <a:schemeClr val="accent1"/>
          </a:solidFill>
          <a:ln w="12700">
            <a:solidFill>
              <a:schemeClr val="accent1"/>
            </a:solidFill>
            <a:prstDash val="solid"/>
          </a:ln>
        </p:spPr>
      </p:sp>
      <p:sp>
        <p:nvSpPr>
          <p:cNvPr id="20" name="flow Optimise 3"/>
          <p:cNvSpPr/>
          <p:nvPr/>
        </p:nvSpPr>
        <p:spPr>
          <a:xfrm>
            <a:off x="8412480" y="4023360"/>
            <a:ext cx="2743200" cy="1325880"/>
          </a:xfrm>
          <a:prstGeom prst="roundRect">
            <a:avLst>
              <a:gd name="adj" fmla="val 8276"/>
            </a:avLst>
          </a:prstGeom>
          <a:solidFill>
            <a:schemeClr val="tx2"/>
          </a:solidFill>
          <a:ln w="12700">
            <a:solidFill>
              <a:schemeClr val="tx2"/>
            </a:solidFill>
            <a:prstDash val="solid"/>
          </a:ln>
        </p:spPr>
      </p:sp>
      <p:sp>
        <p:nvSpPr>
          <p:cNvPr id="21" name="Text 19"/>
          <p:cNvSpPr txBox="1"/>
          <p:nvPr/>
        </p:nvSpPr>
        <p:spPr>
          <a:xfrm>
            <a:off x="8595360" y="4023360"/>
            <a:ext cx="2377440" cy="1325880"/>
          </a:xfrm>
          <a:prstGeom prst="rect">
            <a:avLst/>
          </a:prstGeom>
          <a:noFill/>
          <a:ln/>
        </p:spPr>
        <p:txBody>
          <a:bodyPr wrap="square" lIns="0" tIns="0" rIns="0" bIns="0" rtlCol="0" anchor="ctr"/>
          <a:lstStyle/>
          <a:p>
            <a:pPr indent="0" marL="0">
              <a:buNone/>
            </a:pPr>
            <a:r>
              <a:rPr lang="en-US" sz="1600" dirty="0">
                <a:solidFill>
                  <a:schemeClr val="bg1"/>
                </a:solidFill>
                <a:latin typeface="Calibri" pitchFamily="34" charset="0"/>
                <a:ea typeface="Calibri" pitchFamily="34" charset="-122"/>
                <a:cs typeface="Calibri" pitchFamily="34" charset="-120"/>
              </a:rPr>
              <a:t>Route recommendation and congestion alerts</a:t>
            </a:r>
            <a:endParaRPr lang="en-US" sz="1600" dirty="0"/>
          </a:p>
        </p:txBody>
      </p:sp>
      <p:sp>
        <p:nvSpPr>
          <p:cNvPr id="22" name="Text 20"/>
          <p:cNvSpPr txBox="1"/>
          <p:nvPr/>
        </p:nvSpPr>
        <p:spPr>
          <a:xfrm>
            <a:off x="548640" y="5760720"/>
            <a:ext cx="11064240" cy="457200"/>
          </a:xfrm>
          <a:prstGeom prst="rect">
            <a:avLst/>
          </a:prstGeom>
          <a:noFill/>
          <a:ln/>
        </p:spPr>
        <p:txBody>
          <a:bodyPr wrap="square" lIns="0" tIns="0" rIns="0" bIns="0" rtlCol="0" anchor="t"/>
          <a:lstStyle/>
          <a:p>
            <a:pPr indent="0" marL="0">
              <a:buNone/>
            </a:pPr>
            <a:r>
              <a:rPr lang="en-US" sz="1600" dirty="0">
                <a:solidFill>
                  <a:schemeClr val="bg2"/>
                </a:solidFill>
                <a:latin typeface="Calibri" pitchFamily="34" charset="0"/>
                <a:ea typeface="Calibri" pitchFamily="34" charset="-122"/>
                <a:cs typeface="Calibri" pitchFamily="34" charset="-120"/>
              </a:rPr>
              <a:t>Standard setting: 5-minute steps, T = 12 (the past hour) and T' = 12 (the next hour), reported at 15, 30 and 60 minutes.</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bg2"/>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Objectives</a:t>
            </a:r>
            <a:endParaRPr lang="en-US" sz="3600" dirty="0"/>
          </a:p>
        </p:txBody>
      </p:sp>
      <p:sp>
        <p:nvSpPr>
          <p:cNvPr id="3" name="objective card 1"/>
          <p:cNvSpPr/>
          <p:nvPr/>
        </p:nvSpPr>
        <p:spPr>
          <a:xfrm>
            <a:off x="548640" y="1417320"/>
            <a:ext cx="352044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number 1"/>
          <p:cNvSpPr/>
          <p:nvPr/>
        </p:nvSpPr>
        <p:spPr>
          <a:xfrm>
            <a:off x="777240" y="1645920"/>
            <a:ext cx="548640" cy="548640"/>
          </a:xfrm>
          <a:prstGeom prst="ellipse">
            <a:avLst/>
          </a:prstGeom>
          <a:solidFill>
            <a:schemeClr val="accent1"/>
          </a:solidFill>
          <a:ln w="12700">
            <a:solidFill>
              <a:schemeClr val="accent1"/>
            </a:solidFill>
            <a:prstDash val="solid"/>
          </a:ln>
        </p:spPr>
      </p:sp>
      <p:sp>
        <p:nvSpPr>
          <p:cNvPr id="5" name="Text 3"/>
          <p:cNvSpPr txBox="1"/>
          <p:nvPr/>
        </p:nvSpPr>
        <p:spPr>
          <a:xfrm>
            <a:off x="777240" y="1645920"/>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latin typeface="Calibri" pitchFamily="34" charset="0"/>
                <a:ea typeface="Calibri" pitchFamily="34" charset="-122"/>
                <a:cs typeface="Calibri" pitchFamily="34" charset="-120"/>
              </a:rPr>
              <a:t>1</a:t>
            </a:r>
            <a:endParaRPr lang="en-US" sz="2000" dirty="0"/>
          </a:p>
        </p:txBody>
      </p:sp>
      <p:sp>
        <p:nvSpPr>
          <p:cNvPr id="6" name="Text 4"/>
          <p:cNvSpPr txBox="1"/>
          <p:nvPr/>
        </p:nvSpPr>
        <p:spPr>
          <a:xfrm>
            <a:off x="1463040" y="1645920"/>
            <a:ext cx="2468880" cy="54864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Build the dataset</a:t>
            </a:r>
            <a:endParaRPr lang="en-US" sz="1800" dirty="0"/>
          </a:p>
        </p:txBody>
      </p:sp>
      <p:sp>
        <p:nvSpPr>
          <p:cNvPr id="7" name="Text 5"/>
          <p:cNvSpPr txBox="1"/>
          <p:nvPr/>
        </p:nvSpPr>
        <p:spPr>
          <a:xfrm>
            <a:off x="777240" y="2331720"/>
            <a:ext cx="3063240" cy="10972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Public benchmarks (METR-LA, PEMS-BAY) plus our Bengaluru Outer Ring Road corridor: 21 stretches, with weather and incidents.</a:t>
            </a:r>
            <a:endParaRPr lang="en-US" sz="1400" dirty="0"/>
          </a:p>
        </p:txBody>
      </p:sp>
      <p:sp>
        <p:nvSpPr>
          <p:cNvPr id="8" name="objective card 2"/>
          <p:cNvSpPr/>
          <p:nvPr/>
        </p:nvSpPr>
        <p:spPr>
          <a:xfrm>
            <a:off x="4334256" y="1417320"/>
            <a:ext cx="352044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9" name="number 2"/>
          <p:cNvSpPr/>
          <p:nvPr/>
        </p:nvSpPr>
        <p:spPr>
          <a:xfrm>
            <a:off x="4562856" y="1645920"/>
            <a:ext cx="548640" cy="548640"/>
          </a:xfrm>
          <a:prstGeom prst="ellipse">
            <a:avLst/>
          </a:prstGeom>
          <a:solidFill>
            <a:schemeClr val="accent1"/>
          </a:solidFill>
          <a:ln w="12700">
            <a:solidFill>
              <a:schemeClr val="accent1"/>
            </a:solidFill>
            <a:prstDash val="solid"/>
          </a:ln>
        </p:spPr>
      </p:sp>
      <p:sp>
        <p:nvSpPr>
          <p:cNvPr id="10" name="Text 8"/>
          <p:cNvSpPr txBox="1"/>
          <p:nvPr/>
        </p:nvSpPr>
        <p:spPr>
          <a:xfrm>
            <a:off x="4562856" y="1645920"/>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latin typeface="Calibri" pitchFamily="34" charset="0"/>
                <a:ea typeface="Calibri" pitchFamily="34" charset="-122"/>
                <a:cs typeface="Calibri" pitchFamily="34" charset="-120"/>
              </a:rPr>
              <a:t>2</a:t>
            </a:r>
            <a:endParaRPr lang="en-US" sz="2000" dirty="0"/>
          </a:p>
        </p:txBody>
      </p:sp>
      <p:sp>
        <p:nvSpPr>
          <p:cNvPr id="11" name="Text 9"/>
          <p:cNvSpPr txBox="1"/>
          <p:nvPr/>
        </p:nvSpPr>
        <p:spPr>
          <a:xfrm>
            <a:off x="5248656" y="1645920"/>
            <a:ext cx="2468880" cy="54864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Model the road network</a:t>
            </a:r>
            <a:endParaRPr lang="en-US" sz="1800" dirty="0"/>
          </a:p>
        </p:txBody>
      </p:sp>
      <p:sp>
        <p:nvSpPr>
          <p:cNvPr id="12" name="Text 10"/>
          <p:cNvSpPr txBox="1"/>
          <p:nvPr/>
        </p:nvSpPr>
        <p:spPr>
          <a:xfrm>
            <a:off x="4562856" y="2331720"/>
            <a:ext cx="3063240" cy="10972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Stretches as nodes, drivable links as directed edges, with OpenStreetMap features such as signals, lanes and speed limits.</a:t>
            </a:r>
            <a:endParaRPr lang="en-US" sz="1400" dirty="0"/>
          </a:p>
        </p:txBody>
      </p:sp>
      <p:sp>
        <p:nvSpPr>
          <p:cNvPr id="13" name="objective card 3"/>
          <p:cNvSpPr/>
          <p:nvPr/>
        </p:nvSpPr>
        <p:spPr>
          <a:xfrm>
            <a:off x="8119872" y="1417320"/>
            <a:ext cx="352044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4" name="number 3"/>
          <p:cNvSpPr/>
          <p:nvPr/>
        </p:nvSpPr>
        <p:spPr>
          <a:xfrm>
            <a:off x="8348472" y="1645920"/>
            <a:ext cx="548640" cy="548640"/>
          </a:xfrm>
          <a:prstGeom prst="ellipse">
            <a:avLst/>
          </a:prstGeom>
          <a:solidFill>
            <a:schemeClr val="accent1"/>
          </a:solidFill>
          <a:ln w="12700">
            <a:solidFill>
              <a:schemeClr val="accent1"/>
            </a:solidFill>
            <a:prstDash val="solid"/>
          </a:ln>
        </p:spPr>
      </p:sp>
      <p:sp>
        <p:nvSpPr>
          <p:cNvPr id="15" name="Text 13"/>
          <p:cNvSpPr txBox="1"/>
          <p:nvPr/>
        </p:nvSpPr>
        <p:spPr>
          <a:xfrm>
            <a:off x="8348472" y="1645920"/>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latin typeface="Calibri" pitchFamily="34" charset="0"/>
                <a:ea typeface="Calibri" pitchFamily="34" charset="-122"/>
                <a:cs typeface="Calibri" pitchFamily="34" charset="-120"/>
              </a:rPr>
              <a:t>3</a:t>
            </a:r>
            <a:endParaRPr lang="en-US" sz="2000" dirty="0"/>
          </a:p>
        </p:txBody>
      </p:sp>
      <p:sp>
        <p:nvSpPr>
          <p:cNvPr id="16" name="Text 14"/>
          <p:cNvSpPr txBox="1"/>
          <p:nvPr/>
        </p:nvSpPr>
        <p:spPr>
          <a:xfrm>
            <a:off x="9034272" y="1645920"/>
            <a:ext cx="2468880" cy="54864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Forecast speed</a:t>
            </a:r>
            <a:endParaRPr lang="en-US" sz="1800" dirty="0"/>
          </a:p>
        </p:txBody>
      </p:sp>
      <p:sp>
        <p:nvSpPr>
          <p:cNvPr id="17" name="Text 15"/>
          <p:cNvSpPr txBox="1"/>
          <p:nvPr/>
        </p:nvSpPr>
        <p:spPr>
          <a:xfrm>
            <a:off x="8348472" y="2331720"/>
            <a:ext cx="3063240" cy="10972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Predict 15, 30 and 60 minutes ahead; compare Historical Average, XGBoost, LSTM, Graph WaveNet and STID.</a:t>
            </a:r>
            <a:endParaRPr lang="en-US" sz="1400" dirty="0"/>
          </a:p>
        </p:txBody>
      </p:sp>
      <p:sp>
        <p:nvSpPr>
          <p:cNvPr id="18" name="objective card 4"/>
          <p:cNvSpPr/>
          <p:nvPr/>
        </p:nvSpPr>
        <p:spPr>
          <a:xfrm>
            <a:off x="548640" y="3703320"/>
            <a:ext cx="352044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9" name="number 4"/>
          <p:cNvSpPr/>
          <p:nvPr/>
        </p:nvSpPr>
        <p:spPr>
          <a:xfrm>
            <a:off x="777240" y="3931920"/>
            <a:ext cx="548640" cy="548640"/>
          </a:xfrm>
          <a:prstGeom prst="ellipse">
            <a:avLst/>
          </a:prstGeom>
          <a:solidFill>
            <a:schemeClr val="accent1"/>
          </a:solidFill>
          <a:ln w="12700">
            <a:solidFill>
              <a:schemeClr val="accent1"/>
            </a:solidFill>
            <a:prstDash val="solid"/>
          </a:ln>
        </p:spPr>
      </p:sp>
      <p:sp>
        <p:nvSpPr>
          <p:cNvPr id="20" name="Text 18"/>
          <p:cNvSpPr txBox="1"/>
          <p:nvPr/>
        </p:nvSpPr>
        <p:spPr>
          <a:xfrm>
            <a:off x="777240" y="3931920"/>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latin typeface="Calibri" pitchFamily="34" charset="0"/>
                <a:ea typeface="Calibri" pitchFamily="34" charset="-122"/>
                <a:cs typeface="Calibri" pitchFamily="34" charset="-120"/>
              </a:rPr>
              <a:t>4</a:t>
            </a:r>
            <a:endParaRPr lang="en-US" sz="2000" dirty="0"/>
          </a:p>
        </p:txBody>
      </p:sp>
      <p:sp>
        <p:nvSpPr>
          <p:cNvPr id="21" name="Text 19"/>
          <p:cNvSpPr txBox="1"/>
          <p:nvPr/>
        </p:nvSpPr>
        <p:spPr>
          <a:xfrm>
            <a:off x="1463040" y="3931920"/>
            <a:ext cx="2468880" cy="54864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Evaluate fairly</a:t>
            </a:r>
            <a:endParaRPr lang="en-US" sz="1800" dirty="0"/>
          </a:p>
        </p:txBody>
      </p:sp>
      <p:sp>
        <p:nvSpPr>
          <p:cNvPr id="22" name="Text 20"/>
          <p:cNvSpPr txBox="1"/>
          <p:nvPr/>
        </p:nvSpPr>
        <p:spPr>
          <a:xfrm>
            <a:off x="777240" y="4617720"/>
            <a:ext cx="3063240" cy="10972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Chronological split, masked MAE, RMSE and MAPE at every horizon, so every claim can be checked.</a:t>
            </a:r>
            <a:endParaRPr lang="en-US" sz="1400" dirty="0"/>
          </a:p>
        </p:txBody>
      </p:sp>
      <p:sp>
        <p:nvSpPr>
          <p:cNvPr id="23" name="objective card 5"/>
          <p:cNvSpPr/>
          <p:nvPr/>
        </p:nvSpPr>
        <p:spPr>
          <a:xfrm>
            <a:off x="4334256" y="3703320"/>
            <a:ext cx="352044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4" name="number 5"/>
          <p:cNvSpPr/>
          <p:nvPr/>
        </p:nvSpPr>
        <p:spPr>
          <a:xfrm>
            <a:off x="4562856" y="3931920"/>
            <a:ext cx="548640" cy="548640"/>
          </a:xfrm>
          <a:prstGeom prst="ellipse">
            <a:avLst/>
          </a:prstGeom>
          <a:solidFill>
            <a:schemeClr val="accent1"/>
          </a:solidFill>
          <a:ln w="12700">
            <a:solidFill>
              <a:schemeClr val="accent1"/>
            </a:solidFill>
            <a:prstDash val="solid"/>
          </a:ln>
        </p:spPr>
      </p:sp>
      <p:sp>
        <p:nvSpPr>
          <p:cNvPr id="25" name="Text 23"/>
          <p:cNvSpPr txBox="1"/>
          <p:nvPr/>
        </p:nvSpPr>
        <p:spPr>
          <a:xfrm>
            <a:off x="4562856" y="3931920"/>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latin typeface="Calibri" pitchFamily="34" charset="0"/>
                <a:ea typeface="Calibri" pitchFamily="34" charset="-122"/>
                <a:cs typeface="Calibri" pitchFamily="34" charset="-120"/>
              </a:rPr>
              <a:t>5</a:t>
            </a:r>
            <a:endParaRPr lang="en-US" sz="2000" dirty="0"/>
          </a:p>
        </p:txBody>
      </p:sp>
      <p:sp>
        <p:nvSpPr>
          <p:cNvPr id="26" name="Text 24"/>
          <p:cNvSpPr txBox="1"/>
          <p:nvPr/>
        </p:nvSpPr>
        <p:spPr>
          <a:xfrm>
            <a:off x="5248656" y="3931920"/>
            <a:ext cx="2468880" cy="54864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Flag congestion</a:t>
            </a:r>
            <a:endParaRPr lang="en-US" sz="1800" dirty="0"/>
          </a:p>
        </p:txBody>
      </p:sp>
      <p:sp>
        <p:nvSpPr>
          <p:cNvPr id="27" name="Text 25"/>
          <p:cNvSpPr txBox="1"/>
          <p:nvPr/>
        </p:nvSpPr>
        <p:spPr>
          <a:xfrm>
            <a:off x="4562856" y="4617720"/>
            <a:ext cx="3063240" cy="10972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Compare predicted speed with each road's free-flow speed to give early warnings.</a:t>
            </a:r>
            <a:endParaRPr lang="en-US" sz="1400" dirty="0"/>
          </a:p>
        </p:txBody>
      </p:sp>
      <p:sp>
        <p:nvSpPr>
          <p:cNvPr id="28" name="objective card 6"/>
          <p:cNvSpPr/>
          <p:nvPr/>
        </p:nvSpPr>
        <p:spPr>
          <a:xfrm>
            <a:off x="8119872" y="3703320"/>
            <a:ext cx="3520440" cy="2103120"/>
          </a:xfrm>
          <a:prstGeom prst="roundRect">
            <a:avLst>
              <a:gd name="adj" fmla="val 5217"/>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9" name="number 6"/>
          <p:cNvSpPr/>
          <p:nvPr/>
        </p:nvSpPr>
        <p:spPr>
          <a:xfrm>
            <a:off x="8348472" y="3931920"/>
            <a:ext cx="548640" cy="548640"/>
          </a:xfrm>
          <a:prstGeom prst="ellipse">
            <a:avLst/>
          </a:prstGeom>
          <a:solidFill>
            <a:schemeClr val="accent1"/>
          </a:solidFill>
          <a:ln w="12700">
            <a:solidFill>
              <a:schemeClr val="accent1"/>
            </a:solidFill>
            <a:prstDash val="solid"/>
          </a:ln>
        </p:spPr>
      </p:sp>
      <p:sp>
        <p:nvSpPr>
          <p:cNvPr id="30" name="Text 28"/>
          <p:cNvSpPr txBox="1"/>
          <p:nvPr/>
        </p:nvSpPr>
        <p:spPr>
          <a:xfrm>
            <a:off x="8348472" y="3931920"/>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latin typeface="Calibri" pitchFamily="34" charset="0"/>
                <a:ea typeface="Calibri" pitchFamily="34" charset="-122"/>
                <a:cs typeface="Calibri" pitchFamily="34" charset="-120"/>
              </a:rPr>
              <a:t>6</a:t>
            </a:r>
            <a:endParaRPr lang="en-US" sz="2000" dirty="0"/>
          </a:p>
        </p:txBody>
      </p:sp>
      <p:sp>
        <p:nvSpPr>
          <p:cNvPr id="31" name="Text 29"/>
          <p:cNvSpPr txBox="1"/>
          <p:nvPr/>
        </p:nvSpPr>
        <p:spPr>
          <a:xfrm>
            <a:off x="9034272" y="3931920"/>
            <a:ext cx="2468880" cy="54864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Recommend routes</a:t>
            </a:r>
            <a:endParaRPr lang="en-US" sz="1800" dirty="0"/>
          </a:p>
        </p:txBody>
      </p:sp>
      <p:sp>
        <p:nvSpPr>
          <p:cNvPr id="32" name="Text 30"/>
          <p:cNvSpPr txBox="1"/>
          <p:nvPr/>
        </p:nvSpPr>
        <p:spPr>
          <a:xfrm>
            <a:off x="8348472" y="4617720"/>
            <a:ext cx="3063240" cy="10972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Cost = length ÷ predicted speed; Dijkstra picks the fastest route, shown on a map dashboard through an API.</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Literature Survey 1: Graph Models</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834640"/>
                <a:gridCol w="5120640"/>
                <a:gridCol w="3136392"/>
              </a:tblGrid>
              <a:tr h="411480">
                <a:tc>
                  <a:txBody>
                    <a:bodyPr/>
                    <a:lstStyle/>
                    <a:p>
                      <a:pPr indent="0" marL="0">
                        <a:buNone/>
                      </a:pPr>
                      <a:r>
                        <a:rPr lang="en-US" sz="1400" b="1" dirty="0">
                          <a:solidFill>
                            <a:schemeClr val="bg1"/>
                          </a:solidFill>
                        </a:rPr>
                        <a:t>Work</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400" b="1" dirty="0">
                          <a:solidFill>
                            <a:schemeClr val="bg1"/>
                          </a:solidFill>
                        </a:rPr>
                        <a:t>Key idea</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400" b="1" dirty="0">
                          <a:solidFill>
                            <a:schemeClr val="bg1"/>
                          </a:solidFill>
                        </a:rPr>
                        <a:t>Gap it leaves</a:t>
                      </a:r>
                      <a:endParaRPr lang="en-US" sz="14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tx1"/>
                    </a:solidFill>
                  </a:tcPr>
                </a:tc>
              </a:tr>
              <a:tr h="731520">
                <a:tc>
                  <a:txBody>
                    <a:bodyPr/>
                    <a:lstStyle/>
                    <a:p>
                      <a:pPr indent="0" marL="0">
                        <a:buNone/>
                      </a:pPr>
                      <a:r>
                        <a:rPr lang="en-US" sz="1300" b="1" dirty="0">
                          <a:solidFill>
                            <a:schemeClr val="tx1"/>
                          </a:solidFill>
                        </a:rPr>
                        <a:t>STGCN (Yu et al., IJCAI 2018)</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Graph convolution for space plus gated temporal convolution; fully convolutional and fast to train.</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Fixed distance-based graph; needs many layers for long histories.</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r>
              <a:tr h="731520">
                <a:tc>
                  <a:txBody>
                    <a:bodyPr/>
                    <a:lstStyle/>
                    <a:p>
                      <a:pPr indent="0" marL="0">
                        <a:buNone/>
                      </a:pPr>
                      <a:r>
                        <a:rPr lang="en-US" sz="1300" b="1" dirty="0">
                          <a:solidFill>
                            <a:schemeClr val="tx1"/>
                          </a:solidFill>
                        </a:rPr>
                        <a:t>DCRNN (Li et al., ICLR 2018)</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Diffusion convolution on directed roads inside a GRU encoder-decoder; released METR-LA and PEMS-BAY.</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Recurrent: slow to train and errors build up over steps.</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r>
              <a:tr h="731520">
                <a:tc>
                  <a:txBody>
                    <a:bodyPr/>
                    <a:lstStyle/>
                    <a:p>
                      <a:pPr indent="0" marL="0">
                        <a:buNone/>
                      </a:pPr>
                      <a:r>
                        <a:rPr lang="en-US" sz="1300" b="1" dirty="0">
                          <a:solidFill>
                            <a:schemeClr val="tx1"/>
                          </a:solidFill>
                        </a:rPr>
                        <a:t>ASTGCN (Guo et al., AAAI 2019)</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Spatial and temporal attention; uses recent, daily and weekly input segments.</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Needs three input windows, so heavier data preparation.</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r>
              <a:tr h="731520">
                <a:tc>
                  <a:txBody>
                    <a:bodyPr/>
                    <a:lstStyle/>
                    <a:p>
                      <a:pPr indent="0" marL="0">
                        <a:buNone/>
                      </a:pPr>
                      <a:r>
                        <a:rPr lang="en-US" sz="1300" b="1" dirty="0">
                          <a:solidFill>
                            <a:schemeClr val="tx1"/>
                          </a:solidFill>
                        </a:rPr>
                        <a:t>Graph WaveNet (Wu et al., IJCAI 2019)</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Learns an adaptive adjacency matrix from node embeddings; dilated causal convolution.</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Learned graph is fixed once training ends.</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r>
              <a:tr h="731520">
                <a:tc>
                  <a:txBody>
                    <a:bodyPr/>
                    <a:lstStyle/>
                    <a:p>
                      <a:pPr indent="0" marL="0">
                        <a:buNone/>
                      </a:pPr>
                      <a:r>
                        <a:rPr lang="en-US" sz="1300" b="1" dirty="0">
                          <a:solidFill>
                            <a:schemeClr val="tx1"/>
                          </a:solidFill>
                        </a:rPr>
                        <a:t>GMAN (Zheng et al., AAAI 2020)</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Attention-based encoder-decoder with spatio-temporal embeddings; strong at long horizons.</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Attention cost grows with network size.</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2"/>
                    </a:solidFill>
                  </a:tcPr>
                </a:tc>
              </a:tr>
              <a:tr h="731520">
                <a:tc>
                  <a:txBody>
                    <a:bodyPr/>
                    <a:lstStyle/>
                    <a:p>
                      <a:pPr indent="0" marL="0">
                        <a:buNone/>
                      </a:pPr>
                      <a:r>
                        <a:rPr lang="en-US" sz="1300" b="1" dirty="0">
                          <a:solidFill>
                            <a:schemeClr val="tx1"/>
                          </a:solidFill>
                        </a:rPr>
                        <a:t>AGCRN (Bai et al., NeurIPS 2020)</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Node-specific parameters and a learned graph; needs no predefined road graph.</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Learned graph ignores real road distance.</a:t>
                      </a:r>
                      <a:endParaRPr lang="en-US" sz="1300" dirty="0"/>
                    </a:p>
                  </a:txBody>
                  <a:tcPr marL="109728" marR="109728" marT="45720" marB="45720"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Literature Survey 2: The Numbers</a:t>
            </a:r>
            <a:endParaRPr lang="en-US" sz="3600" dirty="0"/>
          </a:p>
        </p:txBody>
      </p:sp>
      <p:graphicFrame>
        <p:nvGraphicFramePr>
          <p:cNvPr id="3" name="Chart 0" descr=""/>
          <p:cNvGraphicFramePr/>
          <p:nvPr/>
        </p:nvGraphicFramePr>
        <p:xfrm>
          <a:off x="548640" y="137160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943600"/>
            <a:ext cx="6949440" cy="27432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Source: Wu et al., Graph WaveNet, IJCAI 2019, Table 2 (207 sensors, 5-minute data).</a:t>
            </a:r>
            <a:endParaRPr lang="en-US" sz="1200" dirty="0"/>
          </a:p>
        </p:txBody>
      </p:sp>
      <p:sp>
        <p:nvSpPr>
          <p:cNvPr id="5" name="takeaway card 1"/>
          <p:cNvSpPr/>
          <p:nvPr/>
        </p:nvSpPr>
        <p:spPr>
          <a:xfrm>
            <a:off x="7863840" y="1371600"/>
            <a:ext cx="3776472" cy="1463040"/>
          </a:xfrm>
          <a:prstGeom prst="roundRect">
            <a:avLst>
              <a:gd name="adj" fmla="val 750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6" name="Text 3"/>
          <p:cNvSpPr txBox="1"/>
          <p:nvPr/>
        </p:nvSpPr>
        <p:spPr>
          <a:xfrm>
            <a:off x="8092440" y="1508760"/>
            <a:ext cx="333756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Error grows with horizon</a:t>
            </a:r>
            <a:endParaRPr lang="en-US" sz="1600" dirty="0"/>
          </a:p>
        </p:txBody>
      </p:sp>
      <p:sp>
        <p:nvSpPr>
          <p:cNvPr id="7" name="Text 4"/>
          <p:cNvSpPr txBox="1"/>
          <p:nvPr/>
        </p:nvSpPr>
        <p:spPr>
          <a:xfrm>
            <a:off x="8092440" y="1965960"/>
            <a:ext cx="3337560"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ARIMA rises from 3.99 to 6.90 mph; Graph WaveNet from 2.69 to 3.53.</a:t>
            </a:r>
            <a:endParaRPr lang="en-US" sz="1400" dirty="0"/>
          </a:p>
        </p:txBody>
      </p:sp>
      <p:sp>
        <p:nvSpPr>
          <p:cNvPr id="8" name="takeaway card 2"/>
          <p:cNvSpPr/>
          <p:nvPr/>
        </p:nvSpPr>
        <p:spPr>
          <a:xfrm>
            <a:off x="7863840" y="2971800"/>
            <a:ext cx="3776472" cy="1463040"/>
          </a:xfrm>
          <a:prstGeom prst="roundRect">
            <a:avLst>
              <a:gd name="adj" fmla="val 750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9" name="Text 6"/>
          <p:cNvSpPr txBox="1"/>
          <p:nvPr/>
        </p:nvSpPr>
        <p:spPr>
          <a:xfrm>
            <a:off x="8092440" y="3108960"/>
            <a:ext cx="333756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Network-aware models win</a:t>
            </a:r>
            <a:endParaRPr lang="en-US" sz="1600" dirty="0"/>
          </a:p>
        </p:txBody>
      </p:sp>
      <p:sp>
        <p:nvSpPr>
          <p:cNvPr id="10" name="Text 7"/>
          <p:cNvSpPr txBox="1"/>
          <p:nvPr/>
        </p:nvSpPr>
        <p:spPr>
          <a:xfrm>
            <a:off x="8092440" y="3566160"/>
            <a:ext cx="3337560"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DCRNN and Graph WaveNet cut the 60-minute error to about half of ARIMA's.</a:t>
            </a:r>
            <a:endParaRPr lang="en-US" sz="1400" dirty="0"/>
          </a:p>
        </p:txBody>
      </p:sp>
      <p:sp>
        <p:nvSpPr>
          <p:cNvPr id="11" name="takeaway card 3"/>
          <p:cNvSpPr/>
          <p:nvPr/>
        </p:nvSpPr>
        <p:spPr>
          <a:xfrm>
            <a:off x="7863840" y="4572000"/>
            <a:ext cx="3776472" cy="1463040"/>
          </a:xfrm>
          <a:prstGeom prst="roundRect">
            <a:avLst>
              <a:gd name="adj" fmla="val 750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2" name="Text 9"/>
          <p:cNvSpPr txBox="1"/>
          <p:nvPr/>
        </p:nvSpPr>
        <p:spPr>
          <a:xfrm>
            <a:off x="8092440" y="4709160"/>
            <a:ext cx="333756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The graph can be learned</a:t>
            </a:r>
            <a:endParaRPr lang="en-US" sz="1600" dirty="0"/>
          </a:p>
        </p:txBody>
      </p:sp>
      <p:sp>
        <p:nvSpPr>
          <p:cNvPr id="13" name="Text 10"/>
          <p:cNvSpPr txBox="1"/>
          <p:nvPr/>
        </p:nvSpPr>
        <p:spPr>
          <a:xfrm>
            <a:off x="8092440" y="5166360"/>
            <a:ext cx="3337560"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Graph WaveNet's adaptive-only graph (MAE 3.10) matches the distance-based one (3.13).</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Literature Survey 3: Recent Work</a:t>
            </a:r>
            <a:endParaRPr lang="en-US" sz="3600" dirty="0"/>
          </a:p>
        </p:txBody>
      </p:sp>
      <p:sp>
        <p:nvSpPr>
          <p:cNvPr id="3" name="recent card 1"/>
          <p:cNvSpPr/>
          <p:nvPr/>
        </p:nvSpPr>
        <p:spPr>
          <a:xfrm>
            <a:off x="548640" y="1371600"/>
            <a:ext cx="3520440" cy="1783080"/>
          </a:xfrm>
          <a:prstGeom prst="roundRect">
            <a:avLst>
              <a:gd name="adj" fmla="val 6154"/>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777240" y="1554480"/>
            <a:ext cx="3063240" cy="5486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STID (Shao et al., CIKM 2022)</a:t>
            </a:r>
            <a:endParaRPr lang="en-US" sz="1600" dirty="0"/>
          </a:p>
        </p:txBody>
      </p:sp>
      <p:sp>
        <p:nvSpPr>
          <p:cNvPr id="5" name="Text 3"/>
          <p:cNvSpPr txBox="1"/>
          <p:nvPr/>
        </p:nvSpPr>
        <p:spPr>
          <a:xfrm>
            <a:off x="777240" y="2148840"/>
            <a:ext cx="3063240"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 plain MLP with spatial and time-of-day embeddings rivals complex graph models.</a:t>
            </a:r>
            <a:endParaRPr lang="en-US" sz="1400" dirty="0"/>
          </a:p>
        </p:txBody>
      </p:sp>
      <p:sp>
        <p:nvSpPr>
          <p:cNvPr id="6" name="recent card 2"/>
          <p:cNvSpPr/>
          <p:nvPr/>
        </p:nvSpPr>
        <p:spPr>
          <a:xfrm>
            <a:off x="4334256" y="1371600"/>
            <a:ext cx="3520440" cy="1783080"/>
          </a:xfrm>
          <a:prstGeom prst="roundRect">
            <a:avLst>
              <a:gd name="adj" fmla="val 6154"/>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7" name="Text 5"/>
          <p:cNvSpPr txBox="1"/>
          <p:nvPr/>
        </p:nvSpPr>
        <p:spPr>
          <a:xfrm>
            <a:off x="4562856" y="1554480"/>
            <a:ext cx="3063240" cy="5486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STAEformer (Liu et al., CIKM 2023)</a:t>
            </a:r>
            <a:endParaRPr lang="en-US" sz="1600" dirty="0"/>
          </a:p>
        </p:txBody>
      </p:sp>
      <p:sp>
        <p:nvSpPr>
          <p:cNvPr id="8" name="Text 6"/>
          <p:cNvSpPr txBox="1"/>
          <p:nvPr/>
        </p:nvSpPr>
        <p:spPr>
          <a:xfrm>
            <a:off x="4562856" y="2148840"/>
            <a:ext cx="3063240"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 vanilla transformer with spatio-temporal adaptive embeddings; a strong recent baseline.</a:t>
            </a:r>
            <a:endParaRPr lang="en-US" sz="1400" dirty="0"/>
          </a:p>
        </p:txBody>
      </p:sp>
      <p:sp>
        <p:nvSpPr>
          <p:cNvPr id="9" name="recent card 3"/>
          <p:cNvSpPr/>
          <p:nvPr/>
        </p:nvSpPr>
        <p:spPr>
          <a:xfrm>
            <a:off x="8119872" y="1371600"/>
            <a:ext cx="3520440" cy="1783080"/>
          </a:xfrm>
          <a:prstGeom prst="roundRect">
            <a:avLst>
              <a:gd name="adj" fmla="val 6154"/>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0" name="Text 8"/>
          <p:cNvSpPr txBox="1"/>
          <p:nvPr/>
        </p:nvSpPr>
        <p:spPr>
          <a:xfrm>
            <a:off x="8348472" y="1554480"/>
            <a:ext cx="3063240" cy="5486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PDFormer (Jiang et al., AAAI 2023)</a:t>
            </a:r>
            <a:endParaRPr lang="en-US" sz="1600" dirty="0"/>
          </a:p>
        </p:txBody>
      </p:sp>
      <p:sp>
        <p:nvSpPr>
          <p:cNvPr id="11" name="Text 9"/>
          <p:cNvSpPr txBox="1"/>
          <p:nvPr/>
        </p:nvSpPr>
        <p:spPr>
          <a:xfrm>
            <a:off x="8348472" y="2148840"/>
            <a:ext cx="3063240"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Models propagation delay: a jam takes time to travel from one road to the next.</a:t>
            </a:r>
            <a:endParaRPr lang="en-US" sz="1400" dirty="0"/>
          </a:p>
        </p:txBody>
      </p:sp>
      <p:sp>
        <p:nvSpPr>
          <p:cNvPr id="12" name="recent card 4"/>
          <p:cNvSpPr/>
          <p:nvPr/>
        </p:nvSpPr>
        <p:spPr>
          <a:xfrm>
            <a:off x="548640" y="3291840"/>
            <a:ext cx="3520440" cy="1783080"/>
          </a:xfrm>
          <a:prstGeom prst="roundRect">
            <a:avLst>
              <a:gd name="adj" fmla="val 6154"/>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3" name="Text 11"/>
          <p:cNvSpPr txBox="1"/>
          <p:nvPr/>
        </p:nvSpPr>
        <p:spPr>
          <a:xfrm>
            <a:off x="777240" y="3474720"/>
            <a:ext cx="3063240" cy="5486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LargeST (Liu et al., NeurIPS 2023)</a:t>
            </a:r>
            <a:endParaRPr lang="en-US" sz="1600" dirty="0"/>
          </a:p>
        </p:txBody>
      </p:sp>
      <p:sp>
        <p:nvSpPr>
          <p:cNvPr id="14" name="Text 12"/>
          <p:cNvSpPr txBox="1"/>
          <p:nvPr/>
        </p:nvSpPr>
        <p:spPr>
          <a:xfrm>
            <a:off x="777240" y="4069080"/>
            <a:ext cx="3063240"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Benchmark of about 8,600 California sensors for large-scale forecasting tests.</a:t>
            </a:r>
            <a:endParaRPr lang="en-US" sz="1400" dirty="0"/>
          </a:p>
        </p:txBody>
      </p:sp>
      <p:sp>
        <p:nvSpPr>
          <p:cNvPr id="15" name="recent card 5"/>
          <p:cNvSpPr/>
          <p:nvPr/>
        </p:nvSpPr>
        <p:spPr>
          <a:xfrm>
            <a:off x="4334256" y="3291840"/>
            <a:ext cx="3520440" cy="1783080"/>
          </a:xfrm>
          <a:prstGeom prst="roundRect">
            <a:avLst>
              <a:gd name="adj" fmla="val 6154"/>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6" name="Text 14"/>
          <p:cNvSpPr txBox="1"/>
          <p:nvPr/>
        </p:nvSpPr>
        <p:spPr>
          <a:xfrm>
            <a:off x="4562856" y="3474720"/>
            <a:ext cx="3063240" cy="5486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ST-ResNet (Zhang et al., AAAI 2017)</a:t>
            </a:r>
            <a:endParaRPr lang="en-US" sz="1600" dirty="0"/>
          </a:p>
        </p:txBody>
      </p:sp>
      <p:sp>
        <p:nvSpPr>
          <p:cNvPr id="17" name="Text 15"/>
          <p:cNvSpPr txBox="1"/>
          <p:nvPr/>
        </p:nvSpPr>
        <p:spPr>
          <a:xfrm>
            <a:off x="4562856" y="4069080"/>
            <a:ext cx="3063240"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City grid crowd flows with external factors such as weather and holidays.</a:t>
            </a:r>
            <a:endParaRPr lang="en-US" sz="1400" dirty="0"/>
          </a:p>
        </p:txBody>
      </p:sp>
      <p:sp>
        <p:nvSpPr>
          <p:cNvPr id="18" name="recent card 6"/>
          <p:cNvSpPr/>
          <p:nvPr/>
        </p:nvSpPr>
        <p:spPr>
          <a:xfrm>
            <a:off x="8119872" y="3291840"/>
            <a:ext cx="3520440" cy="1783080"/>
          </a:xfrm>
          <a:prstGeom prst="roundRect">
            <a:avLst>
              <a:gd name="adj" fmla="val 6154"/>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9" name="Text 17"/>
          <p:cNvSpPr txBox="1"/>
          <p:nvPr/>
        </p:nvSpPr>
        <p:spPr>
          <a:xfrm>
            <a:off x="8348472" y="3474720"/>
            <a:ext cx="3063240" cy="5486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IntelliLight (Wei et al., KDD 2018)</a:t>
            </a:r>
            <a:endParaRPr lang="en-US" sz="1600" dirty="0"/>
          </a:p>
        </p:txBody>
      </p:sp>
      <p:sp>
        <p:nvSpPr>
          <p:cNvPr id="20" name="Text 18"/>
          <p:cNvSpPr txBox="1"/>
          <p:nvPr/>
        </p:nvSpPr>
        <p:spPr>
          <a:xfrm>
            <a:off x="8348472" y="4069080"/>
            <a:ext cx="3063240"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Reinforcement-learning signal control; needs a simulator, so we chose route recommendation.</a:t>
            </a:r>
            <a:endParaRPr lang="en-US" sz="1400" dirty="0"/>
          </a:p>
        </p:txBody>
      </p:sp>
      <p:sp>
        <p:nvSpPr>
          <p:cNvPr id="21" name="fit band"/>
          <p:cNvSpPr/>
          <p:nvPr/>
        </p:nvSpPr>
        <p:spPr>
          <a:xfrm>
            <a:off x="548640" y="5349240"/>
            <a:ext cx="11091672" cy="822960"/>
          </a:xfrm>
          <a:prstGeom prst="roundRect">
            <a:avLst>
              <a:gd name="adj" fmla="val 13333"/>
            </a:avLst>
          </a:prstGeom>
          <a:solidFill>
            <a:schemeClr val="tx1"/>
          </a:solidFill>
          <a:ln w="12700">
            <a:solidFill>
              <a:schemeClr val="tx1"/>
            </a:solidFill>
            <a:prstDash val="solid"/>
          </a:ln>
        </p:spPr>
      </p:sp>
      <p:sp>
        <p:nvSpPr>
          <p:cNvPr id="22" name="Text 20"/>
          <p:cNvSpPr txBox="1"/>
          <p:nvPr/>
        </p:nvSpPr>
        <p:spPr>
          <a:xfrm>
            <a:off x="777240" y="5349240"/>
            <a:ext cx="10607040" cy="822960"/>
          </a:xfrm>
          <a:prstGeom prst="rect">
            <a:avLst/>
          </a:prstGeom>
          <a:noFill/>
          <a:ln/>
        </p:spPr>
        <p:txBody>
          <a:bodyPr wrap="square" lIns="0" tIns="0" rIns="0" bIns="0" rtlCol="0" anchor="ctr"/>
          <a:lstStyle/>
          <a:p>
            <a:pPr indent="0" marL="0">
              <a:buNone/>
            </a:pPr>
            <a:r>
              <a:rPr lang="en-US" sz="1600" b="1" dirty="0">
                <a:solidFill>
                  <a:schemeClr val="accent1"/>
                </a:solidFill>
                <a:latin typeface="Calibri" pitchFamily="34" charset="0"/>
                <a:ea typeface="Calibri" pitchFamily="34" charset="-122"/>
                <a:cs typeface="Calibri" pitchFamily="34" charset="-120"/>
              </a:rPr>
              <a:t>Where this project fits: </a:t>
            </a:r>
            <a:pPr indent="0" marL="0">
              <a:buNone/>
            </a:pPr>
            <a:r>
              <a:rPr lang="en-US" sz="1600" dirty="0">
                <a:solidFill>
                  <a:schemeClr val="bg1"/>
                </a:solidFill>
                <a:latin typeface="Calibri" pitchFamily="34" charset="0"/>
                <a:ea typeface="Calibri" pitchFamily="34" charset="-122"/>
                <a:cs typeface="Calibri" pitchFamily="34" charset="-120"/>
              </a:rPr>
              <a:t>strong simple baselines first (Historical Average, LSTM, STID), then Graph WaveNet, on a connected Bengaluru corridor, with forecasts feeding route recommendation.</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Progress So Far and Next Steps</a:t>
            </a:r>
            <a:endParaRPr lang="en-US" sz="3600" dirty="0"/>
          </a:p>
        </p:txBody>
      </p:sp>
      <p:sp>
        <p:nvSpPr>
          <p:cNvPr id="3" name="Done card"/>
          <p:cNvSpPr/>
          <p:nvPr/>
        </p:nvSpPr>
        <p:spPr>
          <a:xfrm>
            <a:off x="548640" y="1417320"/>
            <a:ext cx="5376672" cy="4572000"/>
          </a:xfrm>
          <a:prstGeom prst="roundRect">
            <a:avLst>
              <a:gd name="adj" fmla="val 240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822960" y="1600200"/>
            <a:ext cx="4754880" cy="45720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Done</a:t>
            </a:r>
            <a:endParaRPr lang="en-US" sz="2400" dirty="0"/>
          </a:p>
        </p:txBody>
      </p:sp>
      <p:pic>
        <p:nvPicPr>
          <p:cNvPr id="5" name="Done icon 1" descr="Done">    </p:cNvPr>
          <p:cNvPicPr>
            <a:picLocks noChangeAspect="1"/>
          </p:cNvPicPr>
          <p:nvPr/>
        </p:nvPicPr>
        <p:blipFill>
          <a:blip r:embed="rId1"/>
          <a:stretch>
            <a:fillRect/>
          </a:stretch>
        </p:blipFill>
        <p:spPr>
          <a:xfrm>
            <a:off x="822960" y="2331720"/>
            <a:ext cx="365760" cy="365760"/>
          </a:xfrm>
          <a:prstGeom prst="rect">
            <a:avLst/>
          </a:prstGeom>
        </p:spPr>
      </p:pic>
      <p:sp>
        <p:nvSpPr>
          <p:cNvPr id="6" name="Text 3"/>
          <p:cNvSpPr txBox="1"/>
          <p:nvPr/>
        </p:nvSpPr>
        <p:spPr>
          <a:xfrm>
            <a:off x="1371600" y="2286000"/>
            <a:ext cx="4297680" cy="82296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Problem scoped and literature reviewed</a:t>
            </a:r>
            <a:endParaRPr lang="en-US" sz="1600" dirty="0"/>
          </a:p>
        </p:txBody>
      </p:sp>
      <p:pic>
        <p:nvPicPr>
          <p:cNvPr id="7" name="Done icon 2" descr="Done">    </p:cNvPr>
          <p:cNvPicPr>
            <a:picLocks noChangeAspect="1"/>
          </p:cNvPicPr>
          <p:nvPr/>
        </p:nvPicPr>
        <p:blipFill>
          <a:blip r:embed="rId2"/>
          <a:stretch>
            <a:fillRect/>
          </a:stretch>
        </p:blipFill>
        <p:spPr>
          <a:xfrm>
            <a:off x="822960" y="3246120"/>
            <a:ext cx="365760" cy="365760"/>
          </a:xfrm>
          <a:prstGeom prst="rect">
            <a:avLst/>
          </a:prstGeom>
        </p:spPr>
      </p:pic>
      <p:sp>
        <p:nvSpPr>
          <p:cNvPr id="8" name="Text 4"/>
          <p:cNvSpPr txBox="1"/>
          <p:nvPr/>
        </p:nvSpPr>
        <p:spPr>
          <a:xfrm>
            <a:off x="1371600" y="3200400"/>
            <a:ext cx="4297680" cy="82296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Data collector running 24/7 since 27 September 2026 (speeds, weather)</a:t>
            </a:r>
            <a:endParaRPr lang="en-US" sz="1600" dirty="0"/>
          </a:p>
        </p:txBody>
      </p:sp>
      <p:pic>
        <p:nvPicPr>
          <p:cNvPr id="9" name="Done icon 3" descr="Done">    </p:cNvPr>
          <p:cNvPicPr>
            <a:picLocks noChangeAspect="1"/>
          </p:cNvPicPr>
          <p:nvPr/>
        </p:nvPicPr>
        <p:blipFill>
          <a:blip r:embed="rId3"/>
          <a:stretch>
            <a:fillRect/>
          </a:stretch>
        </p:blipFill>
        <p:spPr>
          <a:xfrm>
            <a:off x="822960" y="4160520"/>
            <a:ext cx="365760" cy="365760"/>
          </a:xfrm>
          <a:prstGeom prst="rect">
            <a:avLst/>
          </a:prstGeom>
        </p:spPr>
      </p:pic>
      <p:sp>
        <p:nvSpPr>
          <p:cNvPr id="10" name="Text 5"/>
          <p:cNvSpPr txBox="1"/>
          <p:nvPr/>
        </p:nvSpPr>
        <p:spPr>
          <a:xfrm>
            <a:off x="1371600" y="4114800"/>
            <a:ext cx="4297680" cy="82296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Corridor of 21 connected stretches with links and OpenStreetMap features</a:t>
            </a:r>
            <a:endParaRPr lang="en-US" sz="1600" dirty="0"/>
          </a:p>
        </p:txBody>
      </p:sp>
      <p:pic>
        <p:nvPicPr>
          <p:cNvPr id="11" name="Done icon 4" descr="Done">    </p:cNvPr>
          <p:cNvPicPr>
            <a:picLocks noChangeAspect="1"/>
          </p:cNvPicPr>
          <p:nvPr/>
        </p:nvPicPr>
        <p:blipFill>
          <a:blip r:embed="rId4"/>
          <a:stretch>
            <a:fillRect/>
          </a:stretch>
        </p:blipFill>
        <p:spPr>
          <a:xfrm>
            <a:off x="822960" y="5074920"/>
            <a:ext cx="365760" cy="365760"/>
          </a:xfrm>
          <a:prstGeom prst="rect">
            <a:avLst/>
          </a:prstGeom>
        </p:spPr>
      </p:pic>
      <p:sp>
        <p:nvSpPr>
          <p:cNvPr id="12" name="Text 6"/>
          <p:cNvSpPr txBox="1"/>
          <p:nvPr/>
        </p:nvSpPr>
        <p:spPr>
          <a:xfrm>
            <a:off x="1371600" y="5029200"/>
            <a:ext cx="4297680" cy="82296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Incident feed added to the collector</a:t>
            </a:r>
            <a:endParaRPr lang="en-US" sz="1600" dirty="0"/>
          </a:p>
        </p:txBody>
      </p:sp>
      <p:sp>
        <p:nvSpPr>
          <p:cNvPr id="13" name="Next card"/>
          <p:cNvSpPr/>
          <p:nvPr/>
        </p:nvSpPr>
        <p:spPr>
          <a:xfrm>
            <a:off x="6263640" y="1417320"/>
            <a:ext cx="5376672" cy="4572000"/>
          </a:xfrm>
          <a:prstGeom prst="roundRect">
            <a:avLst>
              <a:gd name="adj" fmla="val 2400"/>
            </a:avLst>
          </a:prstGeom>
          <a:solidFill>
            <a:schemeClr val="bg2"/>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4" name="Text 8"/>
          <p:cNvSpPr txBox="1"/>
          <p:nvPr/>
        </p:nvSpPr>
        <p:spPr>
          <a:xfrm>
            <a:off x="6537960" y="1600200"/>
            <a:ext cx="4754880" cy="457200"/>
          </a:xfrm>
          <a:prstGeom prst="rect">
            <a:avLst/>
          </a:prstGeom>
          <a:noFill/>
          <a:ln/>
        </p:spPr>
        <p:txBody>
          <a:bodyPr wrap="square" lIns="0" tIns="0" rIns="0" bIns="0" rtlCol="0" anchor="t"/>
          <a:lstStyle/>
          <a:p>
            <a:pPr indent="0" marL="0">
              <a:buNone/>
            </a:pPr>
            <a:r>
              <a:rPr lang="en-US" sz="2400" b="1" dirty="0">
                <a:solidFill>
                  <a:schemeClr val="tx1"/>
                </a:solidFill>
                <a:latin typeface="Cambria" pitchFamily="34" charset="0"/>
                <a:ea typeface="Cambria" pitchFamily="34" charset="-122"/>
                <a:cs typeface="Cambria" pitchFamily="34" charset="-120"/>
              </a:rPr>
              <a:t>Next</a:t>
            </a:r>
            <a:endParaRPr lang="en-US" sz="2400" dirty="0"/>
          </a:p>
        </p:txBody>
      </p:sp>
      <p:pic>
        <p:nvPicPr>
          <p:cNvPr id="15" name="Next icon 1" descr="Next">    </p:cNvPr>
          <p:cNvPicPr>
            <a:picLocks noChangeAspect="1"/>
          </p:cNvPicPr>
          <p:nvPr/>
        </p:nvPicPr>
        <p:blipFill>
          <a:blip r:embed="rId5"/>
          <a:stretch>
            <a:fillRect/>
          </a:stretch>
        </p:blipFill>
        <p:spPr>
          <a:xfrm>
            <a:off x="6537960" y="2331720"/>
            <a:ext cx="365760" cy="365760"/>
          </a:xfrm>
          <a:prstGeom prst="rect">
            <a:avLst/>
          </a:prstGeom>
        </p:spPr>
      </p:pic>
      <p:sp>
        <p:nvSpPr>
          <p:cNvPr id="16" name="Text 9"/>
          <p:cNvSpPr txBox="1"/>
          <p:nvPr/>
        </p:nvSpPr>
        <p:spPr>
          <a:xfrm>
            <a:off x="7086600" y="2286000"/>
            <a:ext cx="4297680" cy="82296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Reproduce baselines on METR-LA (Historical Average, LSTM, Graph WaveNet)</a:t>
            </a:r>
            <a:endParaRPr lang="en-US" sz="1600" dirty="0"/>
          </a:p>
        </p:txBody>
      </p:sp>
      <p:pic>
        <p:nvPicPr>
          <p:cNvPr id="17" name="Next icon 2" descr="Next">    </p:cNvPr>
          <p:cNvPicPr>
            <a:picLocks noChangeAspect="1"/>
          </p:cNvPicPr>
          <p:nvPr/>
        </p:nvPicPr>
        <p:blipFill>
          <a:blip r:embed="rId6"/>
          <a:stretch>
            <a:fillRect/>
          </a:stretch>
        </p:blipFill>
        <p:spPr>
          <a:xfrm>
            <a:off x="6537960" y="3246120"/>
            <a:ext cx="365760" cy="365760"/>
          </a:xfrm>
          <a:prstGeom prst="rect">
            <a:avLst/>
          </a:prstGeom>
        </p:spPr>
      </p:pic>
      <p:sp>
        <p:nvSpPr>
          <p:cNvPr id="18" name="Text 10"/>
          <p:cNvSpPr txBox="1"/>
          <p:nvPr/>
        </p:nvSpPr>
        <p:spPr>
          <a:xfrm>
            <a:off x="7086600" y="3200400"/>
            <a:ext cx="4297680" cy="82296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Train on 4 to 6 weeks of Bengaluru data</a:t>
            </a:r>
            <a:endParaRPr lang="en-US" sz="1600" dirty="0"/>
          </a:p>
        </p:txBody>
      </p:sp>
      <p:pic>
        <p:nvPicPr>
          <p:cNvPr id="19" name="Next icon 3" descr="Next">    </p:cNvPr>
          <p:cNvPicPr>
            <a:picLocks noChangeAspect="1"/>
          </p:cNvPicPr>
          <p:nvPr/>
        </p:nvPicPr>
        <p:blipFill>
          <a:blip r:embed="rId7"/>
          <a:stretch>
            <a:fillRect/>
          </a:stretch>
        </p:blipFill>
        <p:spPr>
          <a:xfrm>
            <a:off x="6537960" y="4160520"/>
            <a:ext cx="365760" cy="365760"/>
          </a:xfrm>
          <a:prstGeom prst="rect">
            <a:avLst/>
          </a:prstGeom>
        </p:spPr>
      </p:pic>
      <p:sp>
        <p:nvSpPr>
          <p:cNvPr id="20" name="Text 11"/>
          <p:cNvSpPr txBox="1"/>
          <p:nvPr/>
        </p:nvSpPr>
        <p:spPr>
          <a:xfrm>
            <a:off x="7086600" y="4114800"/>
            <a:ext cx="4297680" cy="82296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Build congestion alerts and route recommendation</a:t>
            </a:r>
            <a:endParaRPr lang="en-US" sz="1600" dirty="0"/>
          </a:p>
        </p:txBody>
      </p:sp>
      <p:pic>
        <p:nvPicPr>
          <p:cNvPr id="21" name="Next icon 4" descr="Next">    </p:cNvPr>
          <p:cNvPicPr>
            <a:picLocks noChangeAspect="1"/>
          </p:cNvPicPr>
          <p:nvPr/>
        </p:nvPicPr>
        <p:blipFill>
          <a:blip r:embed="rId8"/>
          <a:stretch>
            <a:fillRect/>
          </a:stretch>
        </p:blipFill>
        <p:spPr>
          <a:xfrm>
            <a:off x="6537960" y="5074920"/>
            <a:ext cx="365760" cy="365760"/>
          </a:xfrm>
          <a:prstGeom prst="rect">
            <a:avLst/>
          </a:prstGeom>
        </p:spPr>
      </p:pic>
      <p:sp>
        <p:nvSpPr>
          <p:cNvPr id="22" name="Text 12"/>
          <p:cNvSpPr txBox="1"/>
          <p:nvPr/>
        </p:nvSpPr>
        <p:spPr>
          <a:xfrm>
            <a:off x="7086600" y="5029200"/>
            <a:ext cx="4297680" cy="82296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Map dashboard and final evaluation</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References</a:t>
            </a:r>
            <a:endParaRPr lang="en-US" sz="3600" dirty="0"/>
          </a:p>
        </p:txBody>
      </p:sp>
      <p:sp>
        <p:nvSpPr>
          <p:cNvPr id="3" name="Text 1"/>
          <p:cNvSpPr txBox="1"/>
          <p:nvPr/>
        </p:nvSpPr>
        <p:spPr>
          <a:xfrm>
            <a:off x="548640" y="1371600"/>
            <a:ext cx="5440680" cy="4846320"/>
          </a:xfrm>
          <a:prstGeom prst="rect">
            <a:avLst/>
          </a:prstGeom>
          <a:noFill/>
          <a:ln/>
        </p:spPr>
        <p:txBody>
          <a:bodyPr wrap="square" lIns="0" tIns="0" rIns="0" bIns="0" rtlCol="0" anchor="t"/>
          <a:lstStyle/>
          <a:p>
            <a:pPr indent="0" marL="0">
              <a:spcAft>
                <a:spcPts val="500"/>
              </a:spcAft>
              <a:buNone/>
            </a:pPr>
            <a:r>
              <a:rPr lang="en-US" sz="1200" dirty="0">
                <a:solidFill>
                  <a:schemeClr val="tx1"/>
                </a:solidFill>
                <a:latin typeface="Calibri" pitchFamily="34" charset="0"/>
                <a:ea typeface="Calibri" pitchFamily="34" charset="-122"/>
                <a:cs typeface="Calibri" pitchFamily="34" charset="-120"/>
              </a:rPr>
              <a:t>1. Y. Li, R. Yu, C. Shahabi, Y. Liu. Diffusion Convolutional Recurrent Neural Network: Data-Driven Traffic Forecasting. ICLR 2018.</a:t>
            </a:r>
            <a:endParaRPr lang="en-US" sz="1200" dirty="0"/>
          </a:p>
          <a:p>
            <a:pPr indent="0" marL="0">
              <a:spcAft>
                <a:spcPts val="500"/>
              </a:spcAft>
              <a:buNone/>
            </a:pPr>
            <a:r>
              <a:rPr lang="en-US" sz="1200" dirty="0">
                <a:solidFill>
                  <a:schemeClr val="tx1"/>
                </a:solidFill>
                <a:latin typeface="Calibri" pitchFamily="34" charset="0"/>
                <a:ea typeface="Calibri" pitchFamily="34" charset="-122"/>
                <a:cs typeface="Calibri" pitchFamily="34" charset="-120"/>
              </a:rPr>
              <a:t>2. B. Yu, H. Yin, Z. Zhu. Spatio-Temporal Graph Convolutional Networks: A Deep Learning Framework for Traffic Forecasting. IJCAI 2018.</a:t>
            </a:r>
            <a:endParaRPr lang="en-US" sz="1200" dirty="0"/>
          </a:p>
          <a:p>
            <a:pPr indent="0" marL="0">
              <a:spcAft>
                <a:spcPts val="500"/>
              </a:spcAft>
              <a:buNone/>
            </a:pPr>
            <a:r>
              <a:rPr lang="en-US" sz="1200" dirty="0">
                <a:solidFill>
                  <a:schemeClr val="tx1"/>
                </a:solidFill>
                <a:latin typeface="Calibri" pitchFamily="34" charset="0"/>
                <a:ea typeface="Calibri" pitchFamily="34" charset="-122"/>
                <a:cs typeface="Calibri" pitchFamily="34" charset="-120"/>
              </a:rPr>
              <a:t>3. Z. Wu, S. Pan, G. Long, J. Jiang, C. Zhang. Graph WaveNet for Deep Spatial-Temporal Graph Modeling. IJCAI 2019.</a:t>
            </a:r>
            <a:endParaRPr lang="en-US" sz="1200" dirty="0"/>
          </a:p>
          <a:p>
            <a:pPr indent="0" marL="0">
              <a:spcAft>
                <a:spcPts val="500"/>
              </a:spcAft>
              <a:buNone/>
            </a:pPr>
            <a:r>
              <a:rPr lang="en-US" sz="1200" dirty="0">
                <a:solidFill>
                  <a:schemeClr val="tx1"/>
                </a:solidFill>
                <a:latin typeface="Calibri" pitchFamily="34" charset="0"/>
                <a:ea typeface="Calibri" pitchFamily="34" charset="-122"/>
                <a:cs typeface="Calibri" pitchFamily="34" charset="-120"/>
              </a:rPr>
              <a:t>4. S. Guo, Y. Lin, N. Feng, C. Song, H. Wan. Attention Based Spatial-Temporal Graph Convolutional Networks for Traffic Flow Forecasting. AAAI 2019.</a:t>
            </a:r>
            <a:endParaRPr lang="en-US" sz="1200" dirty="0"/>
          </a:p>
          <a:p>
            <a:pPr indent="0" marL="0">
              <a:spcAft>
                <a:spcPts val="500"/>
              </a:spcAft>
              <a:buNone/>
            </a:pPr>
            <a:r>
              <a:rPr lang="en-US" sz="1200" dirty="0">
                <a:solidFill>
                  <a:schemeClr val="tx1"/>
                </a:solidFill>
                <a:latin typeface="Calibri" pitchFamily="34" charset="0"/>
                <a:ea typeface="Calibri" pitchFamily="34" charset="-122"/>
                <a:cs typeface="Calibri" pitchFamily="34" charset="-120"/>
              </a:rPr>
              <a:t>5. C. Zheng, X. Fan, C. Wang, J. Qi. GMAN: A Graph Multi-Attention Network for Traffic Prediction. AAAI 2020.</a:t>
            </a:r>
            <a:endParaRPr lang="en-US" sz="1200" dirty="0"/>
          </a:p>
          <a:p>
            <a:pPr indent="0" marL="0">
              <a:spcAft>
                <a:spcPts val="500"/>
              </a:spcAft>
              <a:buNone/>
            </a:pPr>
            <a:r>
              <a:rPr lang="en-US" sz="1200" dirty="0">
                <a:solidFill>
                  <a:schemeClr val="tx1"/>
                </a:solidFill>
                <a:latin typeface="Calibri" pitchFamily="34" charset="0"/>
                <a:ea typeface="Calibri" pitchFamily="34" charset="-122"/>
                <a:cs typeface="Calibri" pitchFamily="34" charset="-120"/>
              </a:rPr>
              <a:t>6. L. Bai, L. Yao, C. Li, X. Wang, C. Wang. Adaptive Graph Convolutional Recurrent Network for Traffic Forecasting. NeurIPS 2020.</a:t>
            </a:r>
            <a:endParaRPr lang="en-US" sz="1200" dirty="0"/>
          </a:p>
          <a:p>
            <a:pPr indent="0" marL="0">
              <a:spcAft>
                <a:spcPts val="500"/>
              </a:spcAft>
              <a:buNone/>
            </a:pPr>
            <a:r>
              <a:rPr lang="en-US" sz="1200" dirty="0">
                <a:solidFill>
                  <a:schemeClr val="tx1"/>
                </a:solidFill>
                <a:latin typeface="Calibri" pitchFamily="34" charset="0"/>
                <a:ea typeface="Calibri" pitchFamily="34" charset="-122"/>
                <a:cs typeface="Calibri" pitchFamily="34" charset="-120"/>
              </a:rPr>
              <a:t>7. Z. Shao, Z. Zhang, F. Wang, W. Wei, Y. Xu. Spatial-Temporal Identity: A Simple yet Effective Baseline for Multivariate Time Series Forecasting. CIKM 2022.</a:t>
            </a:r>
            <a:endParaRPr lang="en-US" sz="1200" dirty="0"/>
          </a:p>
        </p:txBody>
      </p:sp>
      <p:sp>
        <p:nvSpPr>
          <p:cNvPr id="4" name="Text 2"/>
          <p:cNvSpPr txBox="1"/>
          <p:nvPr/>
        </p:nvSpPr>
        <p:spPr>
          <a:xfrm>
            <a:off x="6217920" y="1371600"/>
            <a:ext cx="5422392" cy="4846320"/>
          </a:xfrm>
          <a:prstGeom prst="rect">
            <a:avLst/>
          </a:prstGeom>
          <a:noFill/>
          <a:ln/>
        </p:spPr>
        <p:txBody>
          <a:bodyPr wrap="square" lIns="0" tIns="0" rIns="0" bIns="0" rtlCol="0" anchor="t"/>
          <a:lstStyle/>
          <a:p>
            <a:pPr indent="0" marL="0">
              <a:spcAft>
                <a:spcPts val="500"/>
              </a:spcAft>
              <a:buNone/>
            </a:pPr>
            <a:r>
              <a:rPr lang="en-US" sz="1200" dirty="0">
                <a:solidFill>
                  <a:schemeClr val="tx1"/>
                </a:solidFill>
                <a:latin typeface="Calibri" pitchFamily="34" charset="0"/>
                <a:ea typeface="Calibri" pitchFamily="34" charset="-122"/>
                <a:cs typeface="Calibri" pitchFamily="34" charset="-120"/>
              </a:rPr>
              <a:t>8. H. Liu et al. STAEformer: Spatio-Temporal Adaptive Embedding Makes Vanilla Transformer SOTA for Traffic Forecasting. CIKM 2023.</a:t>
            </a:r>
            <a:endParaRPr lang="en-US" sz="1200" dirty="0"/>
          </a:p>
          <a:p>
            <a:pPr indent="0" marL="0">
              <a:spcAft>
                <a:spcPts val="500"/>
              </a:spcAft>
              <a:buNone/>
            </a:pPr>
            <a:r>
              <a:rPr lang="en-US" sz="1200" dirty="0">
                <a:solidFill>
                  <a:schemeClr val="tx1"/>
                </a:solidFill>
                <a:latin typeface="Calibri" pitchFamily="34" charset="0"/>
                <a:ea typeface="Calibri" pitchFamily="34" charset="-122"/>
                <a:cs typeface="Calibri" pitchFamily="34" charset="-120"/>
              </a:rPr>
              <a:t>9. J. Jiang, C. Han, W. X. Zhao, J. Wang. PDFormer: Propagation Delay-Aware Dynamic Long-Range Transformer for Traffic Flow Prediction. AAAI 2023.</a:t>
            </a:r>
            <a:endParaRPr lang="en-US" sz="1200" dirty="0"/>
          </a:p>
          <a:p>
            <a:pPr indent="0" marL="0">
              <a:spcAft>
                <a:spcPts val="500"/>
              </a:spcAft>
              <a:buNone/>
            </a:pPr>
            <a:r>
              <a:rPr lang="en-US" sz="1200" dirty="0">
                <a:solidFill>
                  <a:schemeClr val="tx1"/>
                </a:solidFill>
                <a:latin typeface="Calibri" pitchFamily="34" charset="0"/>
                <a:ea typeface="Calibri" pitchFamily="34" charset="-122"/>
                <a:cs typeface="Calibri" pitchFamily="34" charset="-120"/>
              </a:rPr>
              <a:t>10. X. Liu et al. LargeST: A Benchmark Dataset for Large-Scale Traffic Forecasting. NeurIPS 2023, Datasets and Benchmarks.</a:t>
            </a:r>
            <a:endParaRPr lang="en-US" sz="1200" dirty="0"/>
          </a:p>
          <a:p>
            <a:pPr indent="0" marL="0">
              <a:spcAft>
                <a:spcPts val="500"/>
              </a:spcAft>
              <a:buNone/>
            </a:pPr>
            <a:r>
              <a:rPr lang="en-US" sz="1200" dirty="0">
                <a:solidFill>
                  <a:schemeClr val="tx1"/>
                </a:solidFill>
                <a:latin typeface="Calibri" pitchFamily="34" charset="0"/>
                <a:ea typeface="Calibri" pitchFamily="34" charset="-122"/>
                <a:cs typeface="Calibri" pitchFamily="34" charset="-120"/>
              </a:rPr>
              <a:t>11. J. Zhang, Y. Zheng, D. Qi. Deep Spatio-Temporal Residual Networks for Citywide Crowd Flows Prediction. AAAI 2017.</a:t>
            </a:r>
            <a:endParaRPr lang="en-US" sz="1200" dirty="0"/>
          </a:p>
          <a:p>
            <a:pPr indent="0" marL="0">
              <a:spcAft>
                <a:spcPts val="500"/>
              </a:spcAft>
              <a:buNone/>
            </a:pPr>
            <a:r>
              <a:rPr lang="en-US" sz="1200" dirty="0">
                <a:solidFill>
                  <a:schemeClr val="tx1"/>
                </a:solidFill>
                <a:latin typeface="Calibri" pitchFamily="34" charset="0"/>
                <a:ea typeface="Calibri" pitchFamily="34" charset="-122"/>
                <a:cs typeface="Calibri" pitchFamily="34" charset="-120"/>
              </a:rPr>
              <a:t>12. H. Wei, G. Zheng, H. Yao, Z. Li. IntelliLight: A Reinforcement Learning Approach for Intelligent Traffic Light Control. KDD 2018.</a:t>
            </a:r>
            <a:endParaRPr lang="en-US" sz="1200" dirty="0"/>
          </a:p>
          <a:p>
            <a:pPr indent="0" marL="0">
              <a:spcAft>
                <a:spcPts val="500"/>
              </a:spcAft>
              <a:buNone/>
            </a:pPr>
            <a:r>
              <a:rPr lang="en-US" sz="1200" dirty="0">
                <a:solidFill>
                  <a:schemeClr val="tx1"/>
                </a:solidFill>
                <a:latin typeface="Calibri" pitchFamily="34" charset="0"/>
                <a:ea typeface="Calibri" pitchFamily="34" charset="-122"/>
                <a:cs typeface="Calibri" pitchFamily="34" charset="-120"/>
              </a:rPr>
              <a:t>13. TomTom Traffic API documentation (Flow Segment Data, Incident Details): docs.tomtom.com.</a:t>
            </a:r>
            <a:endParaRPr lang="en-US" sz="1200" dirty="0"/>
          </a:p>
          <a:p>
            <a:pPr indent="0" marL="0">
              <a:spcAft>
                <a:spcPts val="500"/>
              </a:spcAft>
              <a:buNone/>
            </a:pPr>
            <a:r>
              <a:rPr lang="en-US" sz="1200" dirty="0">
                <a:solidFill>
                  <a:schemeClr val="tx1"/>
                </a:solidFill>
                <a:latin typeface="Calibri" pitchFamily="34" charset="0"/>
                <a:ea typeface="Calibri" pitchFamily="34" charset="-122"/>
                <a:cs typeface="Calibri" pitchFamily="34" charset="-120"/>
              </a:rPr>
              <a:t>14. OpenStreetMap contributors, data under the Open Database Licence (ODbL).</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l"/>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Asphalt and Signal">
  <a:themeElements>
    <a:clrScheme name="Asphalt and Signal">
      <a:dk1>
        <a:srgbClr val="1B1F2A"/>
      </a:dk1>
      <a:lt1>
        <a:srgbClr val="FFFFFF"/>
      </a:lt1>
      <a:dk2>
        <a:srgbClr val="3A4256"/>
      </a:dk2>
      <a:lt2>
        <a:srgbClr val="F1F3F6"/>
      </a:lt2>
      <a:accent1>
        <a:srgbClr val="F5A623"/>
      </a:accent1>
      <a:accent2>
        <a:srgbClr val="2BB673"/>
      </a:accent2>
      <a:accent3>
        <a:srgbClr val="E5484D"/>
      </a:accent3>
      <a:accent4>
        <a:srgbClr val="3B82F6"/>
      </a:accent4>
      <a:accent5>
        <a:srgbClr val="8B5CF6"/>
      </a:accent5>
      <a:accent6>
        <a:srgbClr val="14B8A6"/>
      </a:accent6>
      <a:hlink>
        <a:srgbClr val="3B82F6"/>
      </a:hlink>
      <a:folHlink>
        <a:srgbClr val="8B5CF6"/>
      </a:folHlink>
    </a:clrScheme>
    <a:fontScheme name="Asphalt and Sign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Phase-1 PBL: AI-Driven Spatio-Temporal Traffic Intelligence System</dc:title>
  <dc:subject>PptxGenJS Presentation</dc:subject>
  <dc:creator>Project team</dc:creator>
  <cp:lastModifiedBy>Project team</cp:lastModifiedBy>
  <cp:revision>1</cp:revision>
  <dcterms:created xsi:type="dcterms:W3CDTF">2026-10-05T03:41:07Z</dcterms:created>
  <dcterms:modified xsi:type="dcterms:W3CDTF">2026-10-05T03:41:07Z</dcterms:modified>
</cp:coreProperties>
</file>